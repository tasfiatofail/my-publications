
<file path=[Content_Types].xml><?xml version="1.0" encoding="utf-8"?>
<Types xmlns="http://schemas.openxmlformats.org/package/2006/content-types">
  <Default Extension="bin" ContentType="image/unknown"/>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Lst>
  <p:notesMasterIdLst>
    <p:notesMasterId r:id="rId5"/>
  </p:notesMasterIdLst>
  <p:handoutMasterIdLst>
    <p:handoutMasterId r:id="rId6"/>
  </p:handoutMasterIdLst>
  <p:sldIdLst>
    <p:sldId id="256" r:id="rId4"/>
  </p:sldIdLst>
  <p:sldSz cx="29260800" cy="16459200"/>
  <p:notesSz cx="6858000" cy="9144000"/>
  <p:defaultTextStyle>
    <a:defPPr>
      <a:defRPr lang="en-US"/>
    </a:defPPr>
    <a:lvl1pPr marL="0" algn="l" defTabSz="2508250" rtl="0" eaLnBrk="1" latinLnBrk="0" hangingPunct="1">
      <a:defRPr sz="4900" kern="1200">
        <a:solidFill>
          <a:schemeClr val="tx1"/>
        </a:solidFill>
        <a:latin typeface="+mn-lt"/>
        <a:ea typeface="+mn-ea"/>
        <a:cs typeface="+mn-cs"/>
      </a:defRPr>
    </a:lvl1pPr>
    <a:lvl2pPr marL="1254125" algn="l" defTabSz="2508250" rtl="0" eaLnBrk="1" latinLnBrk="0" hangingPunct="1">
      <a:defRPr sz="4900" kern="1200">
        <a:solidFill>
          <a:schemeClr val="tx1"/>
        </a:solidFill>
        <a:latin typeface="+mn-lt"/>
        <a:ea typeface="+mn-ea"/>
        <a:cs typeface="+mn-cs"/>
      </a:defRPr>
    </a:lvl2pPr>
    <a:lvl3pPr marL="2508250" algn="l" defTabSz="2508250" rtl="0" eaLnBrk="1" latinLnBrk="0" hangingPunct="1">
      <a:defRPr sz="4900" kern="1200">
        <a:solidFill>
          <a:schemeClr val="tx1"/>
        </a:solidFill>
        <a:latin typeface="+mn-lt"/>
        <a:ea typeface="+mn-ea"/>
        <a:cs typeface="+mn-cs"/>
      </a:defRPr>
    </a:lvl3pPr>
    <a:lvl4pPr marL="3761740" algn="l" defTabSz="2508250" rtl="0" eaLnBrk="1" latinLnBrk="0" hangingPunct="1">
      <a:defRPr sz="4900" kern="1200">
        <a:solidFill>
          <a:schemeClr val="tx1"/>
        </a:solidFill>
        <a:latin typeface="+mn-lt"/>
        <a:ea typeface="+mn-ea"/>
        <a:cs typeface="+mn-cs"/>
      </a:defRPr>
    </a:lvl4pPr>
    <a:lvl5pPr marL="5015865" algn="l" defTabSz="2508250" rtl="0" eaLnBrk="1" latinLnBrk="0" hangingPunct="1">
      <a:defRPr sz="4900" kern="1200">
        <a:solidFill>
          <a:schemeClr val="tx1"/>
        </a:solidFill>
        <a:latin typeface="+mn-lt"/>
        <a:ea typeface="+mn-ea"/>
        <a:cs typeface="+mn-cs"/>
      </a:defRPr>
    </a:lvl5pPr>
    <a:lvl6pPr marL="6269990" algn="l" defTabSz="2508250" rtl="0" eaLnBrk="1" latinLnBrk="0" hangingPunct="1">
      <a:defRPr sz="4900" kern="1200">
        <a:solidFill>
          <a:schemeClr val="tx1"/>
        </a:solidFill>
        <a:latin typeface="+mn-lt"/>
        <a:ea typeface="+mn-ea"/>
        <a:cs typeface="+mn-cs"/>
      </a:defRPr>
    </a:lvl6pPr>
    <a:lvl7pPr marL="7524115" algn="l" defTabSz="2508250" rtl="0" eaLnBrk="1" latinLnBrk="0" hangingPunct="1">
      <a:defRPr sz="4900" kern="1200">
        <a:solidFill>
          <a:schemeClr val="tx1"/>
        </a:solidFill>
        <a:latin typeface="+mn-lt"/>
        <a:ea typeface="+mn-ea"/>
        <a:cs typeface="+mn-cs"/>
      </a:defRPr>
    </a:lvl7pPr>
    <a:lvl8pPr marL="8777605" algn="l" defTabSz="2508250" rtl="0" eaLnBrk="1" latinLnBrk="0" hangingPunct="1">
      <a:defRPr sz="4900" kern="1200">
        <a:solidFill>
          <a:schemeClr val="tx1"/>
        </a:solidFill>
        <a:latin typeface="+mn-lt"/>
        <a:ea typeface="+mn-ea"/>
        <a:cs typeface="+mn-cs"/>
      </a:defRPr>
    </a:lvl8pPr>
    <a:lvl9pPr marL="10031730" algn="l" defTabSz="2508250" rtl="0" eaLnBrk="1" latinLnBrk="0" hangingPunct="1">
      <a:defRPr sz="4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1" userDrawn="1">
          <p15:clr>
            <a:srgbClr val="A4A3A4"/>
          </p15:clr>
        </p15:guide>
        <p15:guide id="2" orient="horz" pos="146" userDrawn="1">
          <p15:clr>
            <a:srgbClr val="A4A3A4"/>
          </p15:clr>
        </p15:guide>
        <p15:guide id="3" orient="horz" pos="10080" userDrawn="1">
          <p15:clr>
            <a:srgbClr val="A4A3A4"/>
          </p15:clr>
        </p15:guide>
        <p15:guide id="4" orient="horz" userDrawn="1">
          <p15:clr>
            <a:srgbClr val="A4A3A4"/>
          </p15:clr>
        </p15:guide>
        <p15:guide id="5" pos="383" userDrawn="1">
          <p15:clr>
            <a:srgbClr val="A4A3A4"/>
          </p15:clr>
        </p15:guide>
        <p15:guide id="6" pos="1806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FFD"/>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82" autoAdjust="0"/>
    <p:restoredTop sz="94706" autoAdjust="0"/>
  </p:normalViewPr>
  <p:slideViewPr>
    <p:cSldViewPr snapToGrid="0" snapToObjects="1" showGuides="1">
      <p:cViewPr varScale="1">
        <p:scale>
          <a:sx n="35" d="100"/>
          <a:sy n="35" d="100"/>
        </p:scale>
        <p:origin x="845" y="24"/>
      </p:cViewPr>
      <p:guideLst>
        <p:guide orient="horz" pos="1651"/>
        <p:guide orient="horz" pos="146"/>
        <p:guide orient="horz" pos="10080"/>
        <p:guide orient="horz"/>
        <p:guide pos="383"/>
        <p:guide pos="1806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75" d="100"/>
          <a:sy n="75" d="100"/>
        </p:scale>
        <p:origin x="2268"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87B717E-17DC-4276-BCDC-C73550588E5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t>2/28/2026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2508250" rtl="0" eaLnBrk="1" latinLnBrk="0" hangingPunct="1">
      <a:defRPr sz="3300" kern="1200">
        <a:solidFill>
          <a:schemeClr val="tx1"/>
        </a:solidFill>
        <a:latin typeface="+mn-lt"/>
        <a:ea typeface="+mn-ea"/>
        <a:cs typeface="+mn-cs"/>
      </a:defRPr>
    </a:lvl1pPr>
    <a:lvl2pPr marL="1254125" algn="l" defTabSz="2508250" rtl="0" eaLnBrk="1" latinLnBrk="0" hangingPunct="1">
      <a:defRPr sz="3300" kern="1200">
        <a:solidFill>
          <a:schemeClr val="tx1"/>
        </a:solidFill>
        <a:latin typeface="+mn-lt"/>
        <a:ea typeface="+mn-ea"/>
        <a:cs typeface="+mn-cs"/>
      </a:defRPr>
    </a:lvl2pPr>
    <a:lvl3pPr marL="2508250" algn="l" defTabSz="2508250" rtl="0" eaLnBrk="1" latinLnBrk="0" hangingPunct="1">
      <a:defRPr sz="3300" kern="1200">
        <a:solidFill>
          <a:schemeClr val="tx1"/>
        </a:solidFill>
        <a:latin typeface="+mn-lt"/>
        <a:ea typeface="+mn-ea"/>
        <a:cs typeface="+mn-cs"/>
      </a:defRPr>
    </a:lvl3pPr>
    <a:lvl4pPr marL="3761740" algn="l" defTabSz="2508250" rtl="0" eaLnBrk="1" latinLnBrk="0" hangingPunct="1">
      <a:defRPr sz="3300" kern="1200">
        <a:solidFill>
          <a:schemeClr val="tx1"/>
        </a:solidFill>
        <a:latin typeface="+mn-lt"/>
        <a:ea typeface="+mn-ea"/>
        <a:cs typeface="+mn-cs"/>
      </a:defRPr>
    </a:lvl4pPr>
    <a:lvl5pPr marL="5015865" algn="l" defTabSz="2508250" rtl="0" eaLnBrk="1" latinLnBrk="0" hangingPunct="1">
      <a:defRPr sz="3300" kern="1200">
        <a:solidFill>
          <a:schemeClr val="tx1"/>
        </a:solidFill>
        <a:latin typeface="+mn-lt"/>
        <a:ea typeface="+mn-ea"/>
        <a:cs typeface="+mn-cs"/>
      </a:defRPr>
    </a:lvl5pPr>
    <a:lvl6pPr marL="6269990" algn="l" defTabSz="2508250" rtl="0" eaLnBrk="1" latinLnBrk="0" hangingPunct="1">
      <a:defRPr sz="3300" kern="1200">
        <a:solidFill>
          <a:schemeClr val="tx1"/>
        </a:solidFill>
        <a:latin typeface="+mn-lt"/>
        <a:ea typeface="+mn-ea"/>
        <a:cs typeface="+mn-cs"/>
      </a:defRPr>
    </a:lvl6pPr>
    <a:lvl7pPr marL="7524115" algn="l" defTabSz="2508250" rtl="0" eaLnBrk="1" latinLnBrk="0" hangingPunct="1">
      <a:defRPr sz="3300" kern="1200">
        <a:solidFill>
          <a:schemeClr val="tx1"/>
        </a:solidFill>
        <a:latin typeface="+mn-lt"/>
        <a:ea typeface="+mn-ea"/>
        <a:cs typeface="+mn-cs"/>
      </a:defRPr>
    </a:lvl7pPr>
    <a:lvl8pPr marL="8777605" algn="l" defTabSz="2508250" rtl="0" eaLnBrk="1" latinLnBrk="0" hangingPunct="1">
      <a:defRPr sz="3300" kern="1200">
        <a:solidFill>
          <a:schemeClr val="tx1"/>
        </a:solidFill>
        <a:latin typeface="+mn-lt"/>
        <a:ea typeface="+mn-ea"/>
        <a:cs typeface="+mn-cs"/>
      </a:defRPr>
    </a:lvl8pPr>
    <a:lvl9pPr marL="10031730" algn="l" defTabSz="2508250" rtl="0" eaLnBrk="1" latinLnBrk="0" hangingPunct="1">
      <a:defRPr sz="3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2790" y="3063162"/>
            <a:ext cx="670454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14892" y="2638448"/>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614892" y="7258044"/>
            <a:ext cx="6700308"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7724777" y="3063162"/>
            <a:ext cx="6699249"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724776" y="2638448"/>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4838893" y="3063162"/>
            <a:ext cx="6699249"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4833600" y="2638448"/>
            <a:ext cx="670560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1947716" y="263844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1947716" y="3063162"/>
            <a:ext cx="669801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1947716" y="7288156"/>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1946040" y="7749541"/>
            <a:ext cx="6701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1947716" y="1299148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1946040" y="13432553"/>
            <a:ext cx="6701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02790" y="7699296"/>
            <a:ext cx="670454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77"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5">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78"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2791" y="3063162"/>
            <a:ext cx="9060851"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14892" y="2622097"/>
            <a:ext cx="9048751"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14892" y="9035725"/>
            <a:ext cx="9061909"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628053" y="8610714"/>
            <a:ext cx="9048750"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0102850" y="10733347"/>
            <a:ext cx="9047690"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0102850" y="10275931"/>
            <a:ext cx="9047690"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0108143" y="3087451"/>
            <a:ext cx="9047690"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0102850" y="2622097"/>
            <a:ext cx="9052983"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9597159" y="2622097"/>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9597159" y="3063162"/>
            <a:ext cx="905068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9597159" y="8594660"/>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9593805" y="9056045"/>
            <a:ext cx="9054041"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9597159" y="12828928"/>
            <a:ext cx="905068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19597160" y="13290313"/>
            <a:ext cx="9054041"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Type in or paste your text here</a:t>
            </a:r>
          </a:p>
        </p:txBody>
      </p:sp>
      <p:sp>
        <p:nvSpPr>
          <p:cNvPr id="72"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75"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5">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77"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06195" y="3063162"/>
            <a:ext cx="670454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08842" y="2622097"/>
            <a:ext cx="6699250" cy="450228"/>
          </a:xfrm>
          <a:prstGeom prst="rect">
            <a:avLst/>
          </a:prstGeom>
          <a:noFill/>
        </p:spPr>
        <p:txBody>
          <a:bodyPr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05666" y="7540815"/>
            <a:ext cx="6705600"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08313" y="7095484"/>
            <a:ext cx="6700308"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7724776" y="3079513"/>
            <a:ext cx="13813365"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7724776" y="2622097"/>
            <a:ext cx="1381336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7724776" y="10987985"/>
            <a:ext cx="13813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7724776" y="10526600"/>
            <a:ext cx="13813366"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1973955" y="2622097"/>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1973955" y="3083482"/>
            <a:ext cx="6698012"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1973955" y="7125596"/>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1972279" y="7586981"/>
            <a:ext cx="6701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1973955" y="12828928"/>
            <a:ext cx="6698012" cy="450228"/>
          </a:xfrm>
          <a:prstGeom prst="rect">
            <a:avLst/>
          </a:prstGeom>
          <a:noFill/>
        </p:spPr>
        <p:txBody>
          <a:bodyPr wrap="square" lIns="52249" tIns="52249" rIns="52249" bIns="52249" anchor="ctr" anchorCtr="0">
            <a:spAutoFit/>
          </a:bodyPr>
          <a:lstStyle>
            <a:lvl1pPr marL="0" indent="0" algn="ctr">
              <a:buNone/>
              <a:defRPr sz="224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1972279" y="13290313"/>
            <a:ext cx="6701366" cy="493538"/>
          </a:xfrm>
          <a:prstGeom prst="rect">
            <a:avLst/>
          </a:prstGeom>
        </p:spPr>
        <p:txBody>
          <a:bodyPr wrap="square" lIns="130622" tIns="130622" rIns="130622" bIns="130622">
            <a:spAutoFit/>
          </a:bodyPr>
          <a:lstStyle>
            <a:lvl1pPr marL="0" indent="0">
              <a:buNone/>
              <a:defRPr sz="1495">
                <a:solidFill>
                  <a:schemeClr val="accent5">
                    <a:lumMod val="50000"/>
                  </a:schemeClr>
                </a:solidFill>
                <a:latin typeface="Times New Roman" panose="02020603050405020304" pitchFamily="18" charset="0"/>
                <a:cs typeface="Times New Roman" panose="02020603050405020304" pitchFamily="18" charset="0"/>
              </a:defRPr>
            </a:lvl1pPr>
            <a:lvl2pPr marL="905510" indent="-348615">
              <a:defRPr sz="1495">
                <a:latin typeface="Trebuchet MS" panose="020B0603020202020204" pitchFamily="34" charset="0"/>
              </a:defRPr>
            </a:lvl2pPr>
            <a:lvl3pPr marL="1254125" indent="-348615">
              <a:defRPr sz="1495">
                <a:latin typeface="Trebuchet MS" panose="020B0603020202020204" pitchFamily="34" charset="0"/>
              </a:defRPr>
            </a:lvl3pPr>
            <a:lvl4pPr marL="1637030" indent="-382905">
              <a:defRPr sz="1495">
                <a:latin typeface="Trebuchet MS" panose="020B0603020202020204" pitchFamily="34" charset="0"/>
              </a:defRPr>
            </a:lvl4pPr>
            <a:lvl5pPr marL="1915795" indent="-278765">
              <a:defRPr sz="1495">
                <a:latin typeface="Trebuchet MS" panose="020B0603020202020204" pitchFamily="34" charset="0"/>
              </a:defRPr>
            </a:lvl5pPr>
          </a:lstStyle>
          <a:p>
            <a:pPr lvl="0"/>
            <a:r>
              <a:rPr lang="en-US" dirty="0"/>
              <a:t>Enter your text here</a:t>
            </a:r>
          </a:p>
        </p:txBody>
      </p:sp>
      <p:sp>
        <p:nvSpPr>
          <p:cNvPr id="83" name="Text Placeholder 76"/>
          <p:cNvSpPr>
            <a:spLocks noGrp="1"/>
          </p:cNvSpPr>
          <p:nvPr>
            <p:ph type="body" sz="quarter" idx="150" hasCustomPrompt="1"/>
          </p:nvPr>
        </p:nvSpPr>
        <p:spPr>
          <a:xfrm>
            <a:off x="3906520" y="1078170"/>
            <a:ext cx="21447761" cy="598230"/>
          </a:xfrm>
          <a:prstGeom prst="rect">
            <a:avLst/>
          </a:prstGeom>
        </p:spPr>
        <p:txBody>
          <a:bodyPr>
            <a:normAutofit/>
          </a:bodyPr>
          <a:lstStyle>
            <a:lvl1pPr marL="0" indent="0" algn="ctr">
              <a:buFontTx/>
              <a:buNone/>
              <a:defRPr sz="3840">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authors</a:t>
            </a:r>
          </a:p>
        </p:txBody>
      </p:sp>
      <p:sp>
        <p:nvSpPr>
          <p:cNvPr id="84" name="Text Placeholder 76"/>
          <p:cNvSpPr>
            <a:spLocks noGrp="1"/>
          </p:cNvSpPr>
          <p:nvPr>
            <p:ph type="body" sz="quarter" idx="184" hasCustomPrompt="1"/>
          </p:nvPr>
        </p:nvSpPr>
        <p:spPr>
          <a:xfrm>
            <a:off x="3906520" y="1676400"/>
            <a:ext cx="21447761" cy="634555"/>
          </a:xfrm>
          <a:prstGeom prst="rect">
            <a:avLst/>
          </a:prstGeom>
        </p:spPr>
        <p:txBody>
          <a:bodyPr>
            <a:normAutofit/>
          </a:bodyPr>
          <a:lstStyle>
            <a:lvl1pPr marL="0" indent="0" algn="ctr">
              <a:buFontTx/>
              <a:buNone/>
              <a:defRPr sz="2985">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affiliations</a:t>
            </a:r>
          </a:p>
        </p:txBody>
      </p:sp>
      <p:sp>
        <p:nvSpPr>
          <p:cNvPr id="85" name="Text Placeholder 76"/>
          <p:cNvSpPr>
            <a:spLocks noGrp="1"/>
          </p:cNvSpPr>
          <p:nvPr>
            <p:ph type="body" sz="quarter" idx="185" hasCustomPrompt="1"/>
          </p:nvPr>
        </p:nvSpPr>
        <p:spPr>
          <a:xfrm>
            <a:off x="3906520" y="232386"/>
            <a:ext cx="21447761" cy="834414"/>
          </a:xfrm>
          <a:prstGeom prst="rect">
            <a:avLst/>
          </a:prstGeom>
        </p:spPr>
        <p:txBody>
          <a:bodyPr>
            <a:normAutofit/>
          </a:bodyPr>
          <a:lstStyle>
            <a:lvl1pPr marL="0" indent="0" algn="ctr">
              <a:buFontTx/>
              <a:buNone/>
              <a:defRPr sz="5120" b="1">
                <a:solidFill>
                  <a:schemeClr val="accent5">
                    <a:lumMod val="50000"/>
                  </a:schemeClr>
                </a:solidFill>
              </a:defRPr>
            </a:lvl1pPr>
            <a:lvl2pPr>
              <a:buFontTx/>
              <a:buNone/>
              <a:defRPr sz="7680"/>
            </a:lvl2pPr>
            <a:lvl3pPr>
              <a:buFontTx/>
              <a:buNone/>
              <a:defRPr sz="7680"/>
            </a:lvl3pPr>
            <a:lvl4pPr>
              <a:buFontTx/>
              <a:buNone/>
              <a:defRPr sz="7680"/>
            </a:lvl4pPr>
            <a:lvl5pPr>
              <a:buFontTx/>
              <a:buNone/>
              <a:defRPr sz="768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8" name="Rectangle 67"/>
          <p:cNvSpPr/>
          <p:nvPr userDrawn="1"/>
        </p:nvSpPr>
        <p:spPr>
          <a:xfrm rot="10800000">
            <a:off x="-2" y="15922872"/>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10" name="Text Box 14"/>
          <p:cNvSpPr txBox="1">
            <a:spLocks noChangeArrowheads="1"/>
          </p:cNvSpPr>
          <p:nvPr/>
        </p:nvSpPr>
        <p:spPr bwMode="auto">
          <a:xfrm>
            <a:off x="979595" y="16156941"/>
            <a:ext cx="1676400" cy="204085"/>
          </a:xfrm>
          <a:prstGeom prst="rect">
            <a:avLst/>
          </a:prstGeom>
          <a:noFill/>
          <a:ln w="9525">
            <a:noFill/>
            <a:miter lim="800000"/>
          </a:ln>
          <a:effectLst/>
        </p:spPr>
        <p:txBody>
          <a:bodyPr lIns="55627" tIns="27808" rIns="55627" bIns="27808">
            <a:spAutoFit/>
          </a:bodyPr>
          <a:lstStyle/>
          <a:p>
            <a:pPr eaLnBrk="0" hangingPunct="0">
              <a:lnSpc>
                <a:spcPct val="65000"/>
              </a:lnSpc>
              <a:spcBef>
                <a:spcPct val="50000"/>
              </a:spcBef>
              <a:defRPr/>
            </a:pPr>
            <a:r>
              <a:rPr lang="en-US" sz="320" b="1" dirty="0">
                <a:solidFill>
                  <a:schemeClr val="bg1">
                    <a:lumMod val="75000"/>
                  </a:schemeClr>
                </a:solidFill>
                <a:latin typeface="Arial" panose="020B0604020202020204" pitchFamily="34"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panose="020B0604020202020204" pitchFamily="34" charset="0"/>
              </a:rPr>
              <a:t>www.PosterPresentations.com</a:t>
            </a:r>
          </a:p>
        </p:txBody>
      </p:sp>
      <p:sp>
        <p:nvSpPr>
          <p:cNvPr id="44" name="Rectangle 43"/>
          <p:cNvSpPr/>
          <p:nvPr userDrawn="1"/>
        </p:nvSpPr>
        <p:spPr>
          <a:xfrm>
            <a:off x="-1" y="-55064"/>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69" name="Rectangle 68"/>
          <p:cNvSpPr/>
          <p:nvPr userDrawn="1"/>
        </p:nvSpPr>
        <p:spPr>
          <a:xfrm>
            <a:off x="1" y="2212340"/>
            <a:ext cx="29260800" cy="176023"/>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70" name="Rounded Rectangle 69"/>
          <p:cNvSpPr/>
          <p:nvPr userDrawn="1"/>
        </p:nvSpPr>
        <p:spPr>
          <a:xfrm>
            <a:off x="623438" y="2649220"/>
            <a:ext cx="6697054" cy="1337310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71" name="Rounded Rectangle 70"/>
          <p:cNvSpPr/>
          <p:nvPr userDrawn="1"/>
        </p:nvSpPr>
        <p:spPr>
          <a:xfrm>
            <a:off x="7718432" y="2649220"/>
            <a:ext cx="6697054" cy="1337310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72" name="Rounded Rectangle 71"/>
          <p:cNvSpPr/>
          <p:nvPr userDrawn="1"/>
        </p:nvSpPr>
        <p:spPr>
          <a:xfrm>
            <a:off x="14837379" y="2649220"/>
            <a:ext cx="6697054" cy="1337310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73" name="Rounded Rectangle 72"/>
          <p:cNvSpPr/>
          <p:nvPr userDrawn="1"/>
        </p:nvSpPr>
        <p:spPr>
          <a:xfrm>
            <a:off x="21950759" y="2649220"/>
            <a:ext cx="6697054" cy="1337310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graphicFrame>
        <p:nvGraphicFramePr>
          <p:cNvPr id="13" name="Table 12"/>
          <p:cNvGraphicFramePr>
            <a:graphicFrameLocks noGrp="1"/>
          </p:cNvGraphicFramePr>
          <p:nvPr userDrawn="1"/>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val="20000"/>
                    </a:ext>
                  </a:extLst>
                </a:gridCol>
                <a:gridCol w="3211218">
                  <a:extLst>
                    <a:ext uri="{9D8B030D-6E8A-4147-A177-3AD203B41FA5}">
                      <a16:colId xmlns:a16="http://schemas.microsoft.com/office/drawing/2014/main" val="20001"/>
                    </a:ext>
                  </a:extLst>
                </a:gridCol>
              </a:tblGrid>
              <a:tr h="668723">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anose="020B0603020202020204" pitchFamily="34" charset="0"/>
                        </a:rPr>
                        <a:t>(THIS SIDEBAR WILL NOT PRINT)</a:t>
                      </a:r>
                      <a:endParaRPr lang="en-US" sz="1900" b="1" spc="600" dirty="0">
                        <a:solidFill>
                          <a:schemeClr val="bg1"/>
                        </a:solidFill>
                        <a:latin typeface="Trebuchet MS" panose="020B0603020202020204" pitchFamily="34" charset="0"/>
                      </a:endParaRPr>
                    </a:p>
                  </a:txBody>
                  <a:tcPr marL="71080" marR="71080" marT="35540" marB="35540">
                    <a:solidFill>
                      <a:srgbClr val="FFC000"/>
                    </a:solidFill>
                  </a:tcPr>
                </a:tc>
                <a:tc hMerge="1">
                  <a:txBody>
                    <a:bodyPr/>
                    <a:lstStyle/>
                    <a:p>
                      <a:endParaRPr lang="en-US"/>
                    </a:p>
                  </a:txBody>
                  <a:tcPr/>
                </a:tc>
                <a:extLst>
                  <a:ext uri="{0D108BD9-81ED-4DB2-BD59-A6C34878D82A}">
                    <a16:rowId xmlns:a16="http://schemas.microsoft.com/office/drawing/2014/main" val="10000"/>
                  </a:ext>
                </a:extLst>
              </a:tr>
              <a:tr h="2116496">
                <a:tc gridSpan="2">
                  <a:txBody>
                    <a:bodyPr/>
                    <a:lstStyle/>
                    <a:p>
                      <a:pPr defTabSz="3765550"/>
                      <a:r>
                        <a:rPr lang="en-US" sz="1000" i="0" dirty="0">
                          <a:solidFill>
                            <a:srgbClr val="D9D9D9"/>
                          </a:solidFill>
                          <a:latin typeface="Arial" panose="020B0604020202020204"/>
                          <a:cs typeface="Arial" panose="020B0604020202020204"/>
                        </a:rPr>
                        <a:t>This PowerPoint template produces a </a:t>
                      </a:r>
                      <a:r>
                        <a:rPr lang="en-US" sz="1200" i="0" dirty="0">
                          <a:solidFill>
                            <a:srgbClr val="FFC000"/>
                          </a:solidFill>
                          <a:latin typeface="Arial" panose="020B0604020202020204"/>
                          <a:cs typeface="Arial" panose="020B0604020202020204"/>
                        </a:rPr>
                        <a:t>wide screen size (16:9 Ratio) virtual </a:t>
                      </a:r>
                      <a:r>
                        <a:rPr lang="en-US" sz="10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the  </a:t>
                      </a:r>
                      <a:r>
                        <a:rPr lang="en-US" sz="1000" i="0" dirty="0">
                          <a:solidFill>
                            <a:srgbClr val="FFC000"/>
                          </a:solidFill>
                          <a:latin typeface="Arial" panose="020B0604020202020204"/>
                          <a:cs typeface="Arial" panose="020B0604020202020204"/>
                        </a:rPr>
                        <a:t>HELP DESK</a:t>
                      </a:r>
                      <a:r>
                        <a:rPr lang="en-US" sz="1000" i="0" baseline="0" dirty="0">
                          <a:solidFill>
                            <a:srgbClr val="D9D9D9"/>
                          </a:solidFill>
                          <a:latin typeface="Arial" panose="020B0604020202020204"/>
                          <a:cs typeface="Arial" panose="020B0604020202020204"/>
                        </a:rPr>
                        <a:t> </a:t>
                      </a:r>
                      <a:r>
                        <a:rPr lang="en-US" sz="1000" i="0" dirty="0">
                          <a:solidFill>
                            <a:srgbClr val="D9D9D9"/>
                          </a:solidFill>
                          <a:latin typeface="Arial" panose="020B0604020202020204"/>
                          <a:cs typeface="Arial" panose="020B0604020202020204"/>
                        </a:rPr>
                        <a:t>tab.</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To print your poster using our same-day professional printing service,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a:t>
                      </a:r>
                      <a:r>
                        <a:rPr lang="en-US" sz="1000" i="0" dirty="0">
                          <a:solidFill>
                            <a:srgbClr val="FFC000"/>
                          </a:solidFill>
                          <a:latin typeface="Arial" panose="020B0604020202020204"/>
                          <a:cs typeface="Arial" panose="020B0604020202020204"/>
                        </a:rPr>
                        <a:t>Order your poster</a:t>
                      </a:r>
                      <a:r>
                        <a:rPr lang="en-US" sz="1000" i="0" dirty="0">
                          <a:solidFill>
                            <a:srgbClr val="D9D9D9"/>
                          </a:solidFill>
                          <a:latin typeface="Arial" panose="020B0604020202020204"/>
                          <a:cs typeface="Arial" panose="020B0604020202020204"/>
                        </a:rPr>
                        <a:t>".</a:t>
                      </a:r>
                      <a:endParaRPr lang="en-US" sz="1000" b="1" dirty="0">
                        <a:solidFill>
                          <a:srgbClr val="D9D9D9"/>
                        </a:solidFill>
                        <a:latin typeface="Arial" panose="020B0604020202020204"/>
                        <a:cs typeface="Arial" panose="020B0604020202020204"/>
                      </a:endParaRP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val="10001"/>
                  </a:ext>
                </a:extLst>
              </a:tr>
              <a:tr h="2300540">
                <a:tc>
                  <a:txBody>
                    <a:bodyPr/>
                    <a:lstStyle/>
                    <a:p>
                      <a:pPr algn="ctr"/>
                      <a:endParaRPr lang="en-US" sz="1200" dirty="0">
                        <a:solidFill>
                          <a:srgbClr val="1F3A4E"/>
                        </a:solidFill>
                      </a:endParaRPr>
                    </a:p>
                    <a:p>
                      <a:pPr marL="0" marR="0" indent="0" algn="ctr" defTabSz="5015865" rtl="0" eaLnBrk="1" fontAlgn="auto" latinLnBrk="0" hangingPunct="1">
                        <a:lnSpc>
                          <a:spcPct val="100000"/>
                        </a:lnSpc>
                        <a:spcBef>
                          <a:spcPts val="0"/>
                        </a:spcBef>
                        <a:spcAft>
                          <a:spcPts val="0"/>
                        </a:spcAft>
                        <a:buClrTx/>
                        <a:buSzTx/>
                        <a:buFontTx/>
                        <a:buNone/>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9120" rtl="0" eaLnBrk="1" fontAlgn="auto" latinLnBrk="0" hangingPunct="1">
                        <a:lnSpc>
                          <a:spcPct val="100000"/>
                        </a:lnSpc>
                        <a:spcBef>
                          <a:spcPts val="0"/>
                        </a:spcBef>
                        <a:spcAft>
                          <a:spcPts val="0"/>
                        </a:spcAft>
                        <a:buClrTx/>
                        <a:buSzTx/>
                        <a:buFontTx/>
                        <a:buNone/>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val="10002"/>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val="10003"/>
                  </a:ext>
                </a:extLst>
              </a:tr>
              <a:tr h="910736">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a:p>
                  </a:txBody>
                  <a:tcPr marL="182880" marT="137160">
                    <a:solidFill>
                      <a:schemeClr val="tx1">
                        <a:lumMod val="95000"/>
                        <a:lumOff val="5000"/>
                      </a:schemeClr>
                    </a:solidFill>
                  </a:tcPr>
                </a:tc>
                <a:extLst>
                  <a:ext uri="{0D108BD9-81ED-4DB2-BD59-A6C34878D82A}">
                    <a16:rowId xmlns:a16="http://schemas.microsoft.com/office/drawing/2014/main" val="10004"/>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val="10005"/>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a:p>
                  </a:txBody>
                  <a:tcPr marL="182880" marT="137160">
                    <a:solidFill>
                      <a:srgbClr val="010101"/>
                    </a:solidFill>
                  </a:tcPr>
                </a:tc>
                <a:extLst>
                  <a:ext uri="{0D108BD9-81ED-4DB2-BD59-A6C34878D82A}">
                    <a16:rowId xmlns:a16="http://schemas.microsoft.com/office/drawing/2014/main" val="10006"/>
                  </a:ext>
                </a:extLst>
              </a:tr>
              <a:tr h="119628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defRPr/>
                      </a:pPr>
                      <a:r>
                        <a:rPr kumimoji="0" lang="en-US" sz="10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endParaRPr lang="en-US"/>
                    </a:p>
                  </a:txBody>
                  <a:tcPr/>
                </a:tc>
                <a:extLst>
                  <a:ext uri="{0D108BD9-81ED-4DB2-BD59-A6C34878D82A}">
                    <a16:rowId xmlns:a16="http://schemas.microsoft.com/office/drawing/2014/main" val="10007"/>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a:p>
                  </a:txBody>
                  <a:tcPr/>
                </a:tc>
                <a:extLst>
                  <a:ext uri="{0D108BD9-81ED-4DB2-BD59-A6C34878D82A}">
                    <a16:rowId xmlns:a16="http://schemas.microsoft.com/office/drawing/2014/main" val="10008"/>
                  </a:ext>
                </a:extLst>
              </a:tr>
              <a:tr h="64415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a:cs typeface="Arial" panose="020B0604020202020204"/>
                        </a:rPr>
                        <a:t>Quality check your graphics</a:t>
                      </a:r>
                    </a:p>
                    <a:p>
                      <a:pPr marL="0" marR="0" lvl="0" indent="0" algn="l" defTabSz="1518285" rtl="0" eaLnBrk="1" fontAlgn="auto" latinLnBrk="0" hangingPunct="1">
                        <a:lnSpc>
                          <a:spcPct val="100000"/>
                        </a:lnSpc>
                        <a:spcBef>
                          <a:spcPts val="0"/>
                        </a:spcBef>
                        <a:spcAft>
                          <a:spcPts val="0"/>
                        </a:spcAft>
                        <a:buClrTx/>
                        <a:buSzTx/>
                        <a:buFontTx/>
                        <a:buNone/>
                        <a:defRPr/>
                      </a:pPr>
                      <a:r>
                        <a:rPr lang="en-US" sz="1000" noProof="0" dirty="0">
                          <a:solidFill>
                            <a:srgbClr val="D9D9D9"/>
                          </a:solidFill>
                          <a:latin typeface="Arial" panose="020B0604020202020204"/>
                          <a:cs typeface="Arial" panose="020B0604020202020204"/>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val="10009"/>
                  </a:ext>
                </a:extLst>
              </a:tr>
              <a:tr h="160362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000" noProof="0" dirty="0">
                        <a:solidFill>
                          <a:schemeClr val="bg1"/>
                        </a:solidFill>
                        <a:latin typeface="Arial" panose="020B0604020202020204"/>
                        <a:cs typeface="Arial" panose="020B0604020202020204"/>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4" name="Table 13"/>
          <p:cNvGraphicFramePr>
            <a:graphicFrameLocks noGrp="1"/>
          </p:cNvGraphicFramePr>
          <p:nvPr userDrawn="1"/>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val="20000"/>
                    </a:ext>
                  </a:extLst>
                </a:gridCol>
                <a:gridCol w="681713">
                  <a:extLst>
                    <a:ext uri="{9D8B030D-6E8A-4147-A177-3AD203B41FA5}">
                      <a16:colId xmlns:a16="http://schemas.microsoft.com/office/drawing/2014/main" val="20001"/>
                    </a:ext>
                  </a:extLst>
                </a:gridCol>
                <a:gridCol w="2844405">
                  <a:extLst>
                    <a:ext uri="{9D8B030D-6E8A-4147-A177-3AD203B41FA5}">
                      <a16:colId xmlns:a16="http://schemas.microsoft.com/office/drawing/2014/main" val="20002"/>
                    </a:ext>
                  </a:extLst>
                </a:gridCol>
              </a:tblGrid>
              <a:tr h="646893">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anose="020B0603020202020204" pitchFamily="34" charset="0"/>
                        </a:rPr>
                        <a:t>(THIS SIDEBAR WILL NOT PRINT)</a:t>
                      </a:r>
                      <a:endParaRPr lang="en-US" sz="2100" b="1" spc="600" dirty="0">
                        <a:solidFill>
                          <a:schemeClr val="bg1"/>
                        </a:solidFill>
                        <a:latin typeface="Trebuchet MS" panose="020B0603020202020204" pitchFamily="34" charset="0"/>
                      </a:endParaRPr>
                    </a:p>
                  </a:txBody>
                  <a:tcPr marL="95264" marR="95264" marT="47632" marB="47632">
                    <a:solidFill>
                      <a:srgbClr val="FFC000"/>
                    </a:solidFill>
                  </a:tcPr>
                </a:tc>
                <a:tc hMerge="1">
                  <a:txBody>
                    <a:bodyPr/>
                    <a:lstStyle/>
                    <a:p>
                      <a:endParaRPr lang="en-US"/>
                    </a:p>
                  </a:txBody>
                  <a:tcPr/>
                </a:tc>
                <a:tc hMerge="1">
                  <a:txBody>
                    <a:bodyPr/>
                    <a:lstStyle/>
                    <a:p>
                      <a:endParaRPr lang="en-US"/>
                    </a:p>
                  </a:txBody>
                  <a:tcPr marL="95264" marR="95264" marT="47632" marB="47632">
                    <a:solidFill>
                      <a:srgbClr val="FFC000"/>
                    </a:solidFill>
                  </a:tcPr>
                </a:tc>
                <a:extLst>
                  <a:ext uri="{0D108BD9-81ED-4DB2-BD59-A6C34878D82A}">
                    <a16:rowId xmlns:a16="http://schemas.microsoft.com/office/drawing/2014/main"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a:p>
                  </a:txBody>
                  <a:tcPr marL="182880" marT="137160">
                    <a:blipFill rotWithShape="1">
                      <a:blip r:embed="rId8"/>
                      <a:stretch>
                        <a:fillRect/>
                      </a:stretch>
                    </a:blipFill>
                  </a:tcPr>
                </a:tc>
                <a:tc hMerge="1">
                  <a:txBody>
                    <a:bodyPr/>
                    <a:lstStyle/>
                    <a:p>
                      <a:endParaRPr lang="en-US"/>
                    </a:p>
                  </a:txBody>
                  <a:tcPr marL="95264" marR="95264" marT="47632" marB="47632">
                    <a:solidFill>
                      <a:schemeClr val="tx1"/>
                    </a:solidFill>
                  </a:tcPr>
                </a:tc>
                <a:extLst>
                  <a:ext uri="{0D108BD9-81ED-4DB2-BD59-A6C34878D82A}">
                    <a16:rowId xmlns:a16="http://schemas.microsoft.com/office/drawing/2014/main"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550" rtl="0" eaLnBrk="1" fontAlgn="auto" latinLnBrk="0" hangingPunct="1">
                        <a:lnSpc>
                          <a:spcPct val="100000"/>
                        </a:lnSpc>
                        <a:spcBef>
                          <a:spcPts val="0"/>
                        </a:spcBef>
                        <a:spcAft>
                          <a:spcPts val="0"/>
                        </a:spcAft>
                        <a:buClrTx/>
                        <a:buSzTx/>
                        <a:buFontTx/>
                        <a:buNone/>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a:p>
                  </a:txBody>
                  <a:tcPr marL="182880" marT="137160">
                    <a:blipFill rotWithShape="1">
                      <a:blip r:embed="rId9"/>
                      <a:stretch>
                        <a:fillRect/>
                      </a:stretch>
                    </a:blipFill>
                  </a:tcPr>
                </a:tc>
                <a:tc hMerge="1">
                  <a:txBody>
                    <a:bodyPr/>
                    <a:lstStyle/>
                    <a:p>
                      <a:endParaRPr lang="en-US"/>
                    </a:p>
                  </a:txBody>
                  <a:tcPr marL="190527" marR="95264" marT="142896" marB="47632">
                    <a:solidFill>
                      <a:schemeClr val="tx1"/>
                    </a:solidFill>
                  </a:tcPr>
                </a:tc>
                <a:extLst>
                  <a:ext uri="{0D108BD9-81ED-4DB2-BD59-A6C34878D82A}">
                    <a16:rowId xmlns:a16="http://schemas.microsoft.com/office/drawing/2014/main" val="10002"/>
                  </a:ext>
                </a:extLst>
              </a:tr>
              <a:tr h="158722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marL="95264" marR="95264" marT="47632" marB="47632">
                    <a:solidFill>
                      <a:srgbClr val="010101"/>
                    </a:solidFill>
                  </a:tcPr>
                </a:tc>
                <a:tc row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val="10003"/>
                  </a:ext>
                </a:extLst>
              </a:tr>
              <a:tr h="1653209">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endParaRPr lang="en-US"/>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val="10005"/>
                  </a:ext>
                </a:extLst>
              </a:tr>
              <a:tr h="880793">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a:cs typeface="Arial" panose="020B0604020202020204"/>
                        </a:rPr>
                        <a:t>How to present your poster</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a:cs typeface="Arial" panose="020B0604020202020204"/>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val="10006"/>
                  </a:ext>
                </a:extLst>
              </a:tr>
              <a:tr h="422492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D9D9D9"/>
                          </a:solidFill>
                          <a:latin typeface="Arial" panose="020B0604020202020204"/>
                          <a:cs typeface="Arial" panose="020B0604020202020204"/>
                        </a:rPr>
                        <a:t>Submit your poster and add it to the Research Poster Virtual Library.</a:t>
                      </a:r>
                      <a:br>
                        <a:rPr lang="en-US" sz="1400" b="1" noProof="0" dirty="0">
                          <a:solidFill>
                            <a:srgbClr val="D9D9D9"/>
                          </a:solidFill>
                          <a:latin typeface="Arial" panose="020B0604020202020204"/>
                          <a:cs typeface="Arial" panose="020B0604020202020204"/>
                        </a:rPr>
                      </a:br>
                      <a:br>
                        <a:rPr lang="en-US" sz="1400" b="1" noProof="0" dirty="0">
                          <a:solidFill>
                            <a:srgbClr val="D9D9D9"/>
                          </a:solidFill>
                          <a:latin typeface="Arial" panose="020B0604020202020204"/>
                          <a:cs typeface="Arial" panose="020B0604020202020204"/>
                        </a:rPr>
                      </a:br>
                      <a:r>
                        <a:rPr lang="en-US" sz="1400" b="1" noProof="0" dirty="0">
                          <a:solidFill>
                            <a:schemeClr val="accent4"/>
                          </a:solidFill>
                          <a:latin typeface="Arial" panose="020B0604020202020204"/>
                          <a:cs typeface="Arial" panose="020B0604020202020204"/>
                        </a:rPr>
                        <a:t>Continuous</a:t>
                      </a:r>
                      <a:r>
                        <a:rPr lang="en-US" sz="1400" b="1" noProof="0" dirty="0">
                          <a:solidFill>
                            <a:srgbClr val="D9D9D9"/>
                          </a:solidFill>
                          <a:latin typeface="Arial" panose="020B0604020202020204"/>
                          <a:cs typeface="Arial" panose="020B0604020202020204"/>
                        </a:rPr>
                        <a:t> </a:t>
                      </a:r>
                      <a:r>
                        <a:rPr lang="en-US" sz="1400" b="1" noProof="0" dirty="0">
                          <a:solidFill>
                            <a:srgbClr val="FFC000"/>
                          </a:solidFill>
                          <a:latin typeface="Arial" panose="020B0604020202020204"/>
                          <a:cs typeface="Arial" panose="020B0604020202020204"/>
                        </a:rPr>
                        <a:t>global reach</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Published posters can easily be presented at virtual conferences. Perfect solution for organizers of meetings and conferences.</a:t>
                      </a:r>
                      <a:br>
                        <a:rPr lang="en-US" sz="1400" b="1" noProof="0" dirty="0">
                          <a:solidFill>
                            <a:srgbClr val="D9D9D9"/>
                          </a:solidFill>
                          <a:latin typeface="Arial" panose="020B0604020202020204"/>
                          <a:cs typeface="Arial" panose="020B0604020202020204"/>
                        </a:rPr>
                      </a:b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hlinkClick r:id="rId11"/>
                        </a:rPr>
                        <a:t>https://www.PosterPresentations.com/</a:t>
                      </a:r>
                      <a:r>
                        <a:rPr lang="en-US" sz="1600" b="1" u="sng" noProof="0" dirty="0">
                          <a:solidFill>
                            <a:srgbClr val="FFC000"/>
                          </a:solidFill>
                          <a:latin typeface="Arial" panose="020B0604020202020204"/>
                          <a:cs typeface="Arial" panose="020B0604020202020204"/>
                          <a:hlinkClick r:id="rId11"/>
                        </a:rPr>
                        <a:t>research</a:t>
                      </a:r>
                      <a:endParaRPr lang="en-US" sz="1600" b="1" u="sng"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txBody>
                  <a:tcPr marL="95264" marR="95264" marT="47632" marB="47632">
                    <a:solidFill>
                      <a:srgbClr val="003366"/>
                    </a:solidFill>
                  </a:tcPr>
                </a:tc>
                <a:tc hMerge="1">
                  <a:txBody>
                    <a:bodyPr/>
                    <a:lstStyle/>
                    <a:p>
                      <a:endParaRPr lang="en-US"/>
                    </a:p>
                  </a:txBody>
                  <a:tcPr/>
                </a:tc>
                <a:tc hMerge="1">
                  <a:txBody>
                    <a:bodyPr/>
                    <a:lstStyle/>
                    <a:p>
                      <a:endParaRPr lang="en-US"/>
                    </a:p>
                  </a:txBody>
                  <a:tcPr marL="95264" marR="95264" marT="47632" marB="47632">
                    <a:solidFill>
                      <a:schemeClr val="accent5">
                        <a:lumMod val="50000"/>
                      </a:schemeClr>
                    </a:solidFill>
                  </a:tcPr>
                </a:tc>
                <a:extLst>
                  <a:ext uri="{0D108BD9-81ED-4DB2-BD59-A6C34878D82A}">
                    <a16:rowId xmlns:a16="http://schemas.microsoft.com/office/drawing/2014/main" val="1000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560893">
                <a:tc>
                  <a:txBody>
                    <a:bodyPr/>
                    <a:lstStyle/>
                    <a:p>
                      <a:pPr>
                        <a:lnSpc>
                          <a:spcPct val="100000"/>
                        </a:lnSpc>
                      </a:pPr>
                      <a:r>
                        <a:rPr lang="en-US" sz="1000" dirty="0">
                          <a:solidFill>
                            <a:schemeClr val="bg1">
                              <a:lumMod val="85000"/>
                            </a:schemeClr>
                          </a:solidFill>
                          <a:latin typeface="Arial" panose="020B0604020202020204"/>
                          <a:cs typeface="Arial" panose="020B0604020202020204"/>
                        </a:rPr>
                        <a:t>© 2020</a:t>
                      </a:r>
                      <a:r>
                        <a:rPr lang="en-US" sz="1000" baseline="0" dirty="0">
                          <a:solidFill>
                            <a:schemeClr val="bg1">
                              <a:lumMod val="85000"/>
                            </a:schemeClr>
                          </a:solidFill>
                          <a:latin typeface="Arial" panose="020B0604020202020204"/>
                          <a:cs typeface="Arial" panose="020B0604020202020204"/>
                        </a:rPr>
                        <a:t> </a:t>
                      </a:r>
                      <a:r>
                        <a:rPr lang="en-US" sz="1000" dirty="0" err="1">
                          <a:solidFill>
                            <a:schemeClr val="bg1">
                              <a:lumMod val="85000"/>
                            </a:schemeClr>
                          </a:solidFill>
                          <a:latin typeface="Arial" panose="020B0604020202020204"/>
                          <a:cs typeface="Arial" panose="020B0604020202020204"/>
                        </a:rPr>
                        <a:t>PosterPresentations.com</a:t>
                      </a:r>
                      <a:br>
                        <a:rPr lang="en-US" sz="1000" dirty="0">
                          <a:solidFill>
                            <a:schemeClr val="bg1">
                              <a:lumMod val="85000"/>
                            </a:schemeClr>
                          </a:solidFill>
                          <a:latin typeface="Arial" panose="020B0604020202020204"/>
                          <a:cs typeface="Arial" panose="020B0604020202020204"/>
                        </a:rPr>
                      </a:br>
                      <a:r>
                        <a:rPr lang="en-US" sz="1000" dirty="0">
                          <a:solidFill>
                            <a:schemeClr val="bg1">
                              <a:lumMod val="85000"/>
                            </a:schemeClr>
                          </a:solidFill>
                          <a:latin typeface="Arial" panose="020B0604020202020204"/>
                          <a:cs typeface="Arial" panose="020B0604020202020204"/>
                        </a:rPr>
                        <a:t>2117 Fourth Street ,</a:t>
                      </a:r>
                      <a:r>
                        <a:rPr lang="en-US" sz="1000" baseline="0" dirty="0">
                          <a:solidFill>
                            <a:schemeClr val="bg1">
                              <a:lumMod val="85000"/>
                            </a:schemeClr>
                          </a:solidFill>
                          <a:latin typeface="Arial" panose="020B0604020202020204"/>
                          <a:cs typeface="Arial" panose="020B0604020202020204"/>
                        </a:rPr>
                        <a:t> STE C        </a:t>
                      </a:r>
                    </a:p>
                    <a:p>
                      <a:pPr>
                        <a:lnSpc>
                          <a:spcPct val="100000"/>
                        </a:lnSpc>
                      </a:pPr>
                      <a:r>
                        <a:rPr lang="en-US" sz="1000" baseline="0" dirty="0">
                          <a:solidFill>
                            <a:schemeClr val="bg1">
                              <a:lumMod val="85000"/>
                            </a:schemeClr>
                          </a:solidFill>
                          <a:latin typeface="Arial" panose="020B0604020202020204"/>
                          <a:cs typeface="Arial" panose="020B0604020202020204"/>
                        </a:rPr>
                        <a:t>Berkeley CA 94710 USA</a:t>
                      </a:r>
                      <a:endParaRPr lang="en-US" sz="1000" dirty="0">
                        <a:solidFill>
                          <a:schemeClr val="bg1">
                            <a:lumMod val="85000"/>
                          </a:schemeClr>
                        </a:solidFill>
                        <a:latin typeface="Arial" panose="020B0604020202020204"/>
                        <a:cs typeface="Arial" panose="020B0604020202020204"/>
                      </a:endParaRPr>
                    </a:p>
                  </a:txBody>
                  <a:tcPr marL="106881" marR="53440" marT="70140" marB="23380">
                    <a:solidFill>
                      <a:srgbClr val="010101"/>
                    </a:solidFill>
                  </a:tcPr>
                </a:tc>
                <a:tc gridSpan="2">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300" b="1" dirty="0">
                          <a:solidFill>
                            <a:srgbClr val="D0D0D0"/>
                          </a:solidFill>
                          <a:latin typeface="Arial" panose="020B0604020202020204"/>
                          <a:cs typeface="Arial" panose="020B0604020202020204"/>
                        </a:rPr>
                        <a:t>For poster-making tutorials</a:t>
                      </a:r>
                      <a:r>
                        <a:rPr lang="en-US" sz="1300" b="1" baseline="0" dirty="0">
                          <a:solidFill>
                            <a:srgbClr val="D0D0D0"/>
                          </a:solidFill>
                          <a:latin typeface="Arial" panose="020B0604020202020204"/>
                          <a:cs typeface="Arial" panose="020B0604020202020204"/>
                        </a:rPr>
                        <a:t> visit:</a:t>
                      </a:r>
                    </a:p>
                    <a:p>
                      <a:pPr marL="0" marR="0" indent="0" algn="l" defTabSz="4389120" rtl="0" eaLnBrk="1" fontAlgn="auto" latinLnBrk="0" hangingPunct="1">
                        <a:lnSpc>
                          <a:spcPct val="100000"/>
                        </a:lnSpc>
                        <a:spcBef>
                          <a:spcPts val="0"/>
                        </a:spcBef>
                        <a:spcAft>
                          <a:spcPts val="0"/>
                        </a:spcAft>
                        <a:buClrTx/>
                        <a:buSzTx/>
                        <a:buFontTx/>
                        <a:buNone/>
                        <a:defRPr/>
                      </a:pPr>
                      <a:r>
                        <a:rPr lang="en-US" sz="900" b="1" dirty="0">
                          <a:solidFill>
                            <a:srgbClr val="FFC000"/>
                          </a:solidFill>
                          <a:latin typeface="Arial" panose="020B0604020202020204"/>
                          <a:cs typeface="Arial" panose="020B0604020202020204"/>
                        </a:rPr>
                        <a:t>https://</a:t>
                      </a:r>
                      <a:r>
                        <a:rPr lang="en-US" sz="900" b="1" dirty="0" err="1">
                          <a:solidFill>
                            <a:srgbClr val="FFC000"/>
                          </a:solidFill>
                          <a:latin typeface="Arial" panose="020B0604020202020204"/>
                          <a:cs typeface="Arial" panose="020B0604020202020204"/>
                        </a:rPr>
                        <a:t>www.posterpresentations.com</a:t>
                      </a:r>
                      <a:r>
                        <a:rPr lang="en-US" sz="900" b="1" dirty="0">
                          <a:solidFill>
                            <a:srgbClr val="FFC000"/>
                          </a:solidFill>
                          <a:latin typeface="Arial" panose="020B0604020202020204"/>
                          <a:cs typeface="Arial" panose="020B0604020202020204"/>
                        </a:rPr>
                        <a:t>/</a:t>
                      </a:r>
                      <a:r>
                        <a:rPr lang="en-US" sz="900" b="1" dirty="0" err="1">
                          <a:solidFill>
                            <a:srgbClr val="FFC000"/>
                          </a:solidFill>
                          <a:latin typeface="Arial" panose="020B0604020202020204"/>
                          <a:cs typeface="Arial" panose="020B0604020202020204"/>
                        </a:rPr>
                        <a:t>helpdesk.html</a:t>
                      </a:r>
                      <a:endParaRPr lang="en-US" sz="900" dirty="0">
                        <a:solidFill>
                          <a:schemeClr val="bg1">
                            <a:lumMod val="85000"/>
                          </a:schemeClr>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2675255" rtl="0" eaLnBrk="1" latinLnBrk="0" hangingPunct="1">
        <a:spcBef>
          <a:spcPct val="0"/>
        </a:spcBef>
        <a:buNone/>
        <a:defRPr sz="5335" kern="1200">
          <a:solidFill>
            <a:schemeClr val="bg1"/>
          </a:solidFill>
          <a:latin typeface="Trebuchet MS" panose="020B0603020202020204" pitchFamily="34" charset="0"/>
          <a:ea typeface="+mj-ea"/>
          <a:cs typeface="+mj-cs"/>
        </a:defRPr>
      </a:lvl1pPr>
    </p:titleStyle>
    <p:bodyStyle>
      <a:lvl1pPr marL="1003300" indent="-1003300" algn="l" defTabSz="2675255" rtl="0" eaLnBrk="1" latinLnBrk="0" hangingPunct="1">
        <a:spcBef>
          <a:spcPct val="20000"/>
        </a:spcBef>
        <a:buFont typeface="Arial" panose="020B0604020202020204" pitchFamily="34" charset="0"/>
        <a:buChar char="•"/>
        <a:defRPr sz="9385" kern="1200">
          <a:solidFill>
            <a:schemeClr val="tx1"/>
          </a:solidFill>
          <a:latin typeface="+mn-lt"/>
          <a:ea typeface="+mn-ea"/>
          <a:cs typeface="+mn-cs"/>
        </a:defRPr>
      </a:lvl1pPr>
      <a:lvl2pPr marL="2173605" indent="-836295" algn="l" defTabSz="2675255" rtl="0" eaLnBrk="1" latinLnBrk="0" hangingPunct="1">
        <a:spcBef>
          <a:spcPct val="20000"/>
        </a:spcBef>
        <a:buFont typeface="Arial" panose="020B0604020202020204" pitchFamily="34" charset="0"/>
        <a:buChar char="–"/>
        <a:defRPr sz="8215" kern="1200">
          <a:solidFill>
            <a:schemeClr val="tx1"/>
          </a:solidFill>
          <a:latin typeface="+mn-lt"/>
          <a:ea typeface="+mn-ea"/>
          <a:cs typeface="+mn-cs"/>
        </a:defRPr>
      </a:lvl2pPr>
      <a:lvl3pPr marL="3343910" indent="-668655" algn="l" defTabSz="2675255" rtl="0" eaLnBrk="1" latinLnBrk="0" hangingPunct="1">
        <a:spcBef>
          <a:spcPct val="20000"/>
        </a:spcBef>
        <a:buFont typeface="Arial" panose="020B0604020202020204" pitchFamily="34" charset="0"/>
        <a:buChar char="•"/>
        <a:defRPr sz="7040" kern="1200">
          <a:solidFill>
            <a:schemeClr val="tx1"/>
          </a:solidFill>
          <a:latin typeface="+mn-lt"/>
          <a:ea typeface="+mn-ea"/>
          <a:cs typeface="+mn-cs"/>
        </a:defRPr>
      </a:lvl3pPr>
      <a:lvl4pPr marL="468185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4pPr>
      <a:lvl5pPr marL="60191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5pPr>
      <a:lvl6pPr marL="735711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6pPr>
      <a:lvl7pPr marL="869442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7pPr>
      <a:lvl8pPr marL="100323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8pPr>
      <a:lvl9pPr marL="1136967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9pPr>
    </p:bodyStyle>
    <p:otherStyle>
      <a:defPPr>
        <a:defRPr lang="en-US"/>
      </a:defPPr>
      <a:lvl1pPr marL="0" algn="l" defTabSz="2675255" rtl="0" eaLnBrk="1" latinLnBrk="0" hangingPunct="1">
        <a:defRPr sz="5225" kern="1200">
          <a:solidFill>
            <a:schemeClr val="tx1"/>
          </a:solidFill>
          <a:latin typeface="+mn-lt"/>
          <a:ea typeface="+mn-ea"/>
          <a:cs typeface="+mn-cs"/>
        </a:defRPr>
      </a:lvl1pPr>
      <a:lvl2pPr marL="1337310" algn="l" defTabSz="2675255" rtl="0" eaLnBrk="1" latinLnBrk="0" hangingPunct="1">
        <a:defRPr sz="5225" kern="1200">
          <a:solidFill>
            <a:schemeClr val="tx1"/>
          </a:solidFill>
          <a:latin typeface="+mn-lt"/>
          <a:ea typeface="+mn-ea"/>
          <a:cs typeface="+mn-cs"/>
        </a:defRPr>
      </a:lvl2pPr>
      <a:lvl3pPr marL="2675255" algn="l" defTabSz="2675255" rtl="0" eaLnBrk="1" latinLnBrk="0" hangingPunct="1">
        <a:defRPr sz="5225" kern="1200">
          <a:solidFill>
            <a:schemeClr val="tx1"/>
          </a:solidFill>
          <a:latin typeface="+mn-lt"/>
          <a:ea typeface="+mn-ea"/>
          <a:cs typeface="+mn-cs"/>
        </a:defRPr>
      </a:lvl3pPr>
      <a:lvl4pPr marL="4012565" algn="l" defTabSz="2675255" rtl="0" eaLnBrk="1" latinLnBrk="0" hangingPunct="1">
        <a:defRPr sz="5225" kern="1200">
          <a:solidFill>
            <a:schemeClr val="tx1"/>
          </a:solidFill>
          <a:latin typeface="+mn-lt"/>
          <a:ea typeface="+mn-ea"/>
          <a:cs typeface="+mn-cs"/>
        </a:defRPr>
      </a:lvl4pPr>
      <a:lvl5pPr marL="5350510" algn="l" defTabSz="2675255" rtl="0" eaLnBrk="1" latinLnBrk="0" hangingPunct="1">
        <a:defRPr sz="5225" kern="1200">
          <a:solidFill>
            <a:schemeClr val="tx1"/>
          </a:solidFill>
          <a:latin typeface="+mn-lt"/>
          <a:ea typeface="+mn-ea"/>
          <a:cs typeface="+mn-cs"/>
        </a:defRPr>
      </a:lvl5pPr>
      <a:lvl6pPr marL="6687820" algn="l" defTabSz="2675255" rtl="0" eaLnBrk="1" latinLnBrk="0" hangingPunct="1">
        <a:defRPr sz="5225" kern="1200">
          <a:solidFill>
            <a:schemeClr val="tx1"/>
          </a:solidFill>
          <a:latin typeface="+mn-lt"/>
          <a:ea typeface="+mn-ea"/>
          <a:cs typeface="+mn-cs"/>
        </a:defRPr>
      </a:lvl6pPr>
      <a:lvl7pPr marL="8025765" algn="l" defTabSz="2675255" rtl="0" eaLnBrk="1" latinLnBrk="0" hangingPunct="1">
        <a:defRPr sz="5225" kern="1200">
          <a:solidFill>
            <a:schemeClr val="tx1"/>
          </a:solidFill>
          <a:latin typeface="+mn-lt"/>
          <a:ea typeface="+mn-ea"/>
          <a:cs typeface="+mn-cs"/>
        </a:defRPr>
      </a:lvl7pPr>
      <a:lvl8pPr marL="9363075" algn="l" defTabSz="2675255" rtl="0" eaLnBrk="1" latinLnBrk="0" hangingPunct="1">
        <a:defRPr sz="5225" kern="1200">
          <a:solidFill>
            <a:schemeClr val="tx1"/>
          </a:solidFill>
          <a:latin typeface="+mn-lt"/>
          <a:ea typeface="+mn-ea"/>
          <a:cs typeface="+mn-cs"/>
        </a:defRPr>
      </a:lvl8pPr>
      <a:lvl9pPr marL="10701020" algn="l" defTabSz="2675255" rtl="0" eaLnBrk="1" latinLnBrk="0" hangingPunct="1">
        <a:defRPr sz="522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 name="Rectangle 38"/>
          <p:cNvSpPr/>
          <p:nvPr userDrawn="1"/>
        </p:nvSpPr>
        <p:spPr>
          <a:xfrm rot="10800000">
            <a:off x="-2" y="15922872"/>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10" name="Text Box 14"/>
          <p:cNvSpPr txBox="1">
            <a:spLocks noChangeArrowheads="1"/>
          </p:cNvSpPr>
          <p:nvPr/>
        </p:nvSpPr>
        <p:spPr bwMode="auto">
          <a:xfrm>
            <a:off x="1001270" y="16116301"/>
            <a:ext cx="1676400" cy="204085"/>
          </a:xfrm>
          <a:prstGeom prst="rect">
            <a:avLst/>
          </a:prstGeom>
          <a:noFill/>
          <a:ln w="9525">
            <a:noFill/>
            <a:miter lim="800000"/>
          </a:ln>
          <a:effectLst/>
        </p:spPr>
        <p:txBody>
          <a:bodyPr lIns="55627" tIns="27808" rIns="55627" bIns="27808">
            <a:spAutoFit/>
          </a:bodyPr>
          <a:lstStyle/>
          <a:p>
            <a:pPr eaLnBrk="0" hangingPunct="0">
              <a:lnSpc>
                <a:spcPct val="65000"/>
              </a:lnSpc>
              <a:spcBef>
                <a:spcPct val="50000"/>
              </a:spcBef>
              <a:defRPr/>
            </a:pPr>
            <a:r>
              <a:rPr lang="en-US" sz="320" b="1" dirty="0">
                <a:solidFill>
                  <a:schemeClr val="bg1">
                    <a:lumMod val="75000"/>
                  </a:schemeClr>
                </a:solidFill>
                <a:latin typeface="Arial" panose="020B0604020202020204" pitchFamily="34"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panose="020B0604020202020204" pitchFamily="34" charset="0"/>
              </a:rPr>
              <a:t>www.PosterPresentations.com</a:t>
            </a:r>
          </a:p>
        </p:txBody>
      </p:sp>
      <p:sp>
        <p:nvSpPr>
          <p:cNvPr id="43" name="Rectangle 42"/>
          <p:cNvSpPr/>
          <p:nvPr userDrawn="1"/>
        </p:nvSpPr>
        <p:spPr>
          <a:xfrm>
            <a:off x="-1" y="-55064"/>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51" name="Rectangle 50"/>
          <p:cNvSpPr/>
          <p:nvPr userDrawn="1"/>
        </p:nvSpPr>
        <p:spPr>
          <a:xfrm>
            <a:off x="1" y="2212340"/>
            <a:ext cx="29260800" cy="176023"/>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52" name="Rounded Rectangle 51"/>
          <p:cNvSpPr/>
          <p:nvPr userDrawn="1"/>
        </p:nvSpPr>
        <p:spPr>
          <a:xfrm>
            <a:off x="623438" y="2628900"/>
            <a:ext cx="9085237"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53" name="Rounded Rectangle 52"/>
          <p:cNvSpPr/>
          <p:nvPr userDrawn="1"/>
        </p:nvSpPr>
        <p:spPr>
          <a:xfrm>
            <a:off x="10111933" y="2628900"/>
            <a:ext cx="9056914"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54" name="Rounded Rectangle 53"/>
          <p:cNvSpPr/>
          <p:nvPr userDrawn="1"/>
        </p:nvSpPr>
        <p:spPr>
          <a:xfrm>
            <a:off x="19572104" y="2628900"/>
            <a:ext cx="9056914"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graphicFrame>
        <p:nvGraphicFramePr>
          <p:cNvPr id="12" name="Table 11"/>
          <p:cNvGraphicFramePr>
            <a:graphicFrameLocks noGrp="1"/>
          </p:cNvGraphicFramePr>
          <p:nvPr userDrawn="1"/>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val="20000"/>
                    </a:ext>
                  </a:extLst>
                </a:gridCol>
                <a:gridCol w="3211218">
                  <a:extLst>
                    <a:ext uri="{9D8B030D-6E8A-4147-A177-3AD203B41FA5}">
                      <a16:colId xmlns:a16="http://schemas.microsoft.com/office/drawing/2014/main" val="20001"/>
                    </a:ext>
                  </a:extLst>
                </a:gridCol>
              </a:tblGrid>
              <a:tr h="668723">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anose="020B0603020202020204" pitchFamily="34" charset="0"/>
                        </a:rPr>
                        <a:t>(THIS SIDEBAR WILL NOT PRINT)</a:t>
                      </a:r>
                      <a:endParaRPr lang="en-US" sz="1900" b="1" spc="600" dirty="0">
                        <a:solidFill>
                          <a:schemeClr val="bg1"/>
                        </a:solidFill>
                        <a:latin typeface="Trebuchet MS" panose="020B0603020202020204" pitchFamily="34" charset="0"/>
                      </a:endParaRPr>
                    </a:p>
                  </a:txBody>
                  <a:tcPr marL="71080" marR="71080" marT="35540" marB="35540">
                    <a:solidFill>
                      <a:srgbClr val="FFC000"/>
                    </a:solidFill>
                  </a:tcPr>
                </a:tc>
                <a:tc hMerge="1">
                  <a:txBody>
                    <a:bodyPr/>
                    <a:lstStyle/>
                    <a:p>
                      <a:endParaRPr lang="en-US"/>
                    </a:p>
                  </a:txBody>
                  <a:tcPr/>
                </a:tc>
                <a:extLst>
                  <a:ext uri="{0D108BD9-81ED-4DB2-BD59-A6C34878D82A}">
                    <a16:rowId xmlns:a16="http://schemas.microsoft.com/office/drawing/2014/main" val="10000"/>
                  </a:ext>
                </a:extLst>
              </a:tr>
              <a:tr h="2116496">
                <a:tc gridSpan="2">
                  <a:txBody>
                    <a:bodyPr/>
                    <a:lstStyle/>
                    <a:p>
                      <a:pPr defTabSz="3765550"/>
                      <a:r>
                        <a:rPr lang="en-US" sz="1000" i="0" dirty="0">
                          <a:solidFill>
                            <a:srgbClr val="D9D9D9"/>
                          </a:solidFill>
                          <a:latin typeface="Arial" panose="020B0604020202020204"/>
                          <a:cs typeface="Arial" panose="020B0604020202020204"/>
                        </a:rPr>
                        <a:t>This PowerPoint template produces a </a:t>
                      </a:r>
                      <a:r>
                        <a:rPr lang="en-US" sz="1200" i="0" dirty="0">
                          <a:solidFill>
                            <a:srgbClr val="FFC000"/>
                          </a:solidFill>
                          <a:latin typeface="Arial" panose="020B0604020202020204"/>
                          <a:cs typeface="Arial" panose="020B0604020202020204"/>
                        </a:rPr>
                        <a:t>wide screen size (16:9 Ratio) virtual </a:t>
                      </a:r>
                      <a:r>
                        <a:rPr lang="en-US" sz="10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the  </a:t>
                      </a:r>
                      <a:r>
                        <a:rPr lang="en-US" sz="1000" i="0" dirty="0">
                          <a:solidFill>
                            <a:srgbClr val="FFC000"/>
                          </a:solidFill>
                          <a:latin typeface="Arial" panose="020B0604020202020204"/>
                          <a:cs typeface="Arial" panose="020B0604020202020204"/>
                        </a:rPr>
                        <a:t>HELP DESK</a:t>
                      </a:r>
                      <a:r>
                        <a:rPr lang="en-US" sz="1000" i="0" baseline="0" dirty="0">
                          <a:solidFill>
                            <a:srgbClr val="D9D9D9"/>
                          </a:solidFill>
                          <a:latin typeface="Arial" panose="020B0604020202020204"/>
                          <a:cs typeface="Arial" panose="020B0604020202020204"/>
                        </a:rPr>
                        <a:t> </a:t>
                      </a:r>
                      <a:r>
                        <a:rPr lang="en-US" sz="1000" i="0" dirty="0">
                          <a:solidFill>
                            <a:srgbClr val="D9D9D9"/>
                          </a:solidFill>
                          <a:latin typeface="Arial" panose="020B0604020202020204"/>
                          <a:cs typeface="Arial" panose="020B0604020202020204"/>
                        </a:rPr>
                        <a:t>tab.</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To print your poster using our same-day professional printing service,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a:t>
                      </a:r>
                      <a:r>
                        <a:rPr lang="en-US" sz="1000" i="0" dirty="0">
                          <a:solidFill>
                            <a:srgbClr val="FFC000"/>
                          </a:solidFill>
                          <a:latin typeface="Arial" panose="020B0604020202020204"/>
                          <a:cs typeface="Arial" panose="020B0604020202020204"/>
                        </a:rPr>
                        <a:t>Order your poster</a:t>
                      </a:r>
                      <a:r>
                        <a:rPr lang="en-US" sz="1000" i="0" dirty="0">
                          <a:solidFill>
                            <a:srgbClr val="D9D9D9"/>
                          </a:solidFill>
                          <a:latin typeface="Arial" panose="020B0604020202020204"/>
                          <a:cs typeface="Arial" panose="020B0604020202020204"/>
                        </a:rPr>
                        <a:t>".</a:t>
                      </a:r>
                      <a:endParaRPr lang="en-US" sz="1000" b="1" dirty="0">
                        <a:solidFill>
                          <a:srgbClr val="D9D9D9"/>
                        </a:solidFill>
                        <a:latin typeface="Arial" panose="020B0604020202020204"/>
                        <a:cs typeface="Arial" panose="020B0604020202020204"/>
                      </a:endParaRP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val="10001"/>
                  </a:ext>
                </a:extLst>
              </a:tr>
              <a:tr h="2300540">
                <a:tc>
                  <a:txBody>
                    <a:bodyPr/>
                    <a:lstStyle/>
                    <a:p>
                      <a:pPr algn="ctr"/>
                      <a:endParaRPr lang="en-US" sz="1200" dirty="0">
                        <a:solidFill>
                          <a:srgbClr val="1F3A4E"/>
                        </a:solidFill>
                      </a:endParaRPr>
                    </a:p>
                    <a:p>
                      <a:pPr marL="0" marR="0" indent="0" algn="ctr" defTabSz="5015865" rtl="0" eaLnBrk="1" fontAlgn="auto" latinLnBrk="0" hangingPunct="1">
                        <a:lnSpc>
                          <a:spcPct val="100000"/>
                        </a:lnSpc>
                        <a:spcBef>
                          <a:spcPts val="0"/>
                        </a:spcBef>
                        <a:spcAft>
                          <a:spcPts val="0"/>
                        </a:spcAft>
                        <a:buClrTx/>
                        <a:buSzTx/>
                        <a:buFontTx/>
                        <a:buNone/>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9120" rtl="0" eaLnBrk="1" fontAlgn="auto" latinLnBrk="0" hangingPunct="1">
                        <a:lnSpc>
                          <a:spcPct val="100000"/>
                        </a:lnSpc>
                        <a:spcBef>
                          <a:spcPts val="0"/>
                        </a:spcBef>
                        <a:spcAft>
                          <a:spcPts val="0"/>
                        </a:spcAft>
                        <a:buClrTx/>
                        <a:buSzTx/>
                        <a:buFontTx/>
                        <a:buNone/>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val="10002"/>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val="10003"/>
                  </a:ext>
                </a:extLst>
              </a:tr>
              <a:tr h="910736">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a:p>
                  </a:txBody>
                  <a:tcPr marL="182880" marT="137160">
                    <a:solidFill>
                      <a:schemeClr val="tx1">
                        <a:lumMod val="95000"/>
                        <a:lumOff val="5000"/>
                      </a:schemeClr>
                    </a:solidFill>
                  </a:tcPr>
                </a:tc>
                <a:extLst>
                  <a:ext uri="{0D108BD9-81ED-4DB2-BD59-A6C34878D82A}">
                    <a16:rowId xmlns:a16="http://schemas.microsoft.com/office/drawing/2014/main" val="10004"/>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val="10005"/>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a:p>
                  </a:txBody>
                  <a:tcPr marL="182880" marT="137160">
                    <a:solidFill>
                      <a:srgbClr val="010101"/>
                    </a:solidFill>
                  </a:tcPr>
                </a:tc>
                <a:extLst>
                  <a:ext uri="{0D108BD9-81ED-4DB2-BD59-A6C34878D82A}">
                    <a16:rowId xmlns:a16="http://schemas.microsoft.com/office/drawing/2014/main" val="10006"/>
                  </a:ext>
                </a:extLst>
              </a:tr>
              <a:tr h="119628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defRPr/>
                      </a:pPr>
                      <a:r>
                        <a:rPr kumimoji="0" lang="en-US" sz="10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endParaRPr lang="en-US"/>
                    </a:p>
                  </a:txBody>
                  <a:tcPr/>
                </a:tc>
                <a:extLst>
                  <a:ext uri="{0D108BD9-81ED-4DB2-BD59-A6C34878D82A}">
                    <a16:rowId xmlns:a16="http://schemas.microsoft.com/office/drawing/2014/main" val="10007"/>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a:p>
                  </a:txBody>
                  <a:tcPr/>
                </a:tc>
                <a:extLst>
                  <a:ext uri="{0D108BD9-81ED-4DB2-BD59-A6C34878D82A}">
                    <a16:rowId xmlns:a16="http://schemas.microsoft.com/office/drawing/2014/main" val="10008"/>
                  </a:ext>
                </a:extLst>
              </a:tr>
              <a:tr h="64415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a:cs typeface="Arial" panose="020B0604020202020204"/>
                        </a:rPr>
                        <a:t>Quality check your graphics</a:t>
                      </a:r>
                    </a:p>
                    <a:p>
                      <a:pPr marL="0" marR="0" lvl="0" indent="0" algn="l" defTabSz="1518285" rtl="0" eaLnBrk="1" fontAlgn="auto" latinLnBrk="0" hangingPunct="1">
                        <a:lnSpc>
                          <a:spcPct val="100000"/>
                        </a:lnSpc>
                        <a:spcBef>
                          <a:spcPts val="0"/>
                        </a:spcBef>
                        <a:spcAft>
                          <a:spcPts val="0"/>
                        </a:spcAft>
                        <a:buClrTx/>
                        <a:buSzTx/>
                        <a:buFontTx/>
                        <a:buNone/>
                        <a:defRPr/>
                      </a:pPr>
                      <a:r>
                        <a:rPr lang="en-US" sz="1000" noProof="0" dirty="0">
                          <a:solidFill>
                            <a:srgbClr val="D9D9D9"/>
                          </a:solidFill>
                          <a:latin typeface="Arial" panose="020B0604020202020204"/>
                          <a:cs typeface="Arial" panose="020B0604020202020204"/>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val="10009"/>
                  </a:ext>
                </a:extLst>
              </a:tr>
              <a:tr h="160362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000" noProof="0" dirty="0">
                        <a:solidFill>
                          <a:schemeClr val="bg1"/>
                        </a:solidFill>
                        <a:latin typeface="Arial" panose="020B0604020202020204"/>
                        <a:cs typeface="Arial" panose="020B0604020202020204"/>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Table 12"/>
          <p:cNvGraphicFramePr>
            <a:graphicFrameLocks noGrp="1"/>
          </p:cNvGraphicFramePr>
          <p:nvPr userDrawn="1"/>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val="20000"/>
                    </a:ext>
                  </a:extLst>
                </a:gridCol>
                <a:gridCol w="681713">
                  <a:extLst>
                    <a:ext uri="{9D8B030D-6E8A-4147-A177-3AD203B41FA5}">
                      <a16:colId xmlns:a16="http://schemas.microsoft.com/office/drawing/2014/main" val="20001"/>
                    </a:ext>
                  </a:extLst>
                </a:gridCol>
                <a:gridCol w="2844405">
                  <a:extLst>
                    <a:ext uri="{9D8B030D-6E8A-4147-A177-3AD203B41FA5}">
                      <a16:colId xmlns:a16="http://schemas.microsoft.com/office/drawing/2014/main" val="20002"/>
                    </a:ext>
                  </a:extLst>
                </a:gridCol>
              </a:tblGrid>
              <a:tr h="646893">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anose="020B0603020202020204" pitchFamily="34" charset="0"/>
                        </a:rPr>
                        <a:t>(THIS SIDEBAR WILL NOT PRINT)</a:t>
                      </a:r>
                      <a:endParaRPr lang="en-US" sz="2100" b="1" spc="600" dirty="0">
                        <a:solidFill>
                          <a:schemeClr val="bg1"/>
                        </a:solidFill>
                        <a:latin typeface="Trebuchet MS" panose="020B0603020202020204" pitchFamily="34" charset="0"/>
                      </a:endParaRPr>
                    </a:p>
                  </a:txBody>
                  <a:tcPr marL="95264" marR="95264" marT="47632" marB="47632">
                    <a:solidFill>
                      <a:srgbClr val="FFC000"/>
                    </a:solidFill>
                  </a:tcPr>
                </a:tc>
                <a:tc hMerge="1">
                  <a:txBody>
                    <a:bodyPr/>
                    <a:lstStyle/>
                    <a:p>
                      <a:endParaRPr lang="en-US"/>
                    </a:p>
                  </a:txBody>
                  <a:tcPr/>
                </a:tc>
                <a:tc hMerge="1">
                  <a:txBody>
                    <a:bodyPr/>
                    <a:lstStyle/>
                    <a:p>
                      <a:endParaRPr lang="en-US"/>
                    </a:p>
                  </a:txBody>
                  <a:tcPr marL="95264" marR="95264" marT="47632" marB="47632">
                    <a:solidFill>
                      <a:srgbClr val="FFC000"/>
                    </a:solidFill>
                  </a:tcPr>
                </a:tc>
                <a:extLst>
                  <a:ext uri="{0D108BD9-81ED-4DB2-BD59-A6C34878D82A}">
                    <a16:rowId xmlns:a16="http://schemas.microsoft.com/office/drawing/2014/main"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a:p>
                  </a:txBody>
                  <a:tcPr marL="182880" marT="137160">
                    <a:blipFill rotWithShape="1">
                      <a:blip r:embed="rId8"/>
                      <a:stretch>
                        <a:fillRect/>
                      </a:stretch>
                    </a:blipFill>
                  </a:tcPr>
                </a:tc>
                <a:tc hMerge="1">
                  <a:txBody>
                    <a:bodyPr/>
                    <a:lstStyle/>
                    <a:p>
                      <a:endParaRPr lang="en-US"/>
                    </a:p>
                  </a:txBody>
                  <a:tcPr marL="95264" marR="95264" marT="47632" marB="47632">
                    <a:solidFill>
                      <a:schemeClr val="tx1"/>
                    </a:solidFill>
                  </a:tcPr>
                </a:tc>
                <a:extLst>
                  <a:ext uri="{0D108BD9-81ED-4DB2-BD59-A6C34878D82A}">
                    <a16:rowId xmlns:a16="http://schemas.microsoft.com/office/drawing/2014/main"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550" rtl="0" eaLnBrk="1" fontAlgn="auto" latinLnBrk="0" hangingPunct="1">
                        <a:lnSpc>
                          <a:spcPct val="100000"/>
                        </a:lnSpc>
                        <a:spcBef>
                          <a:spcPts val="0"/>
                        </a:spcBef>
                        <a:spcAft>
                          <a:spcPts val="0"/>
                        </a:spcAft>
                        <a:buClrTx/>
                        <a:buSzTx/>
                        <a:buFontTx/>
                        <a:buNone/>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a:p>
                  </a:txBody>
                  <a:tcPr marL="182880" marT="137160">
                    <a:blipFill rotWithShape="1">
                      <a:blip r:embed="rId9"/>
                      <a:stretch>
                        <a:fillRect/>
                      </a:stretch>
                    </a:blipFill>
                  </a:tcPr>
                </a:tc>
                <a:tc hMerge="1">
                  <a:txBody>
                    <a:bodyPr/>
                    <a:lstStyle/>
                    <a:p>
                      <a:endParaRPr lang="en-US"/>
                    </a:p>
                  </a:txBody>
                  <a:tcPr marL="190527" marR="95264" marT="142896" marB="47632">
                    <a:solidFill>
                      <a:schemeClr val="tx1"/>
                    </a:solidFill>
                  </a:tcPr>
                </a:tc>
                <a:extLst>
                  <a:ext uri="{0D108BD9-81ED-4DB2-BD59-A6C34878D82A}">
                    <a16:rowId xmlns:a16="http://schemas.microsoft.com/office/drawing/2014/main" val="10002"/>
                  </a:ext>
                </a:extLst>
              </a:tr>
              <a:tr h="158722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marL="95264" marR="95264" marT="47632" marB="47632">
                    <a:solidFill>
                      <a:srgbClr val="010101"/>
                    </a:solidFill>
                  </a:tcPr>
                </a:tc>
                <a:tc row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val="10003"/>
                  </a:ext>
                </a:extLst>
              </a:tr>
              <a:tr h="1653209">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endParaRPr lang="en-US"/>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val="10005"/>
                  </a:ext>
                </a:extLst>
              </a:tr>
              <a:tr h="880793">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a:cs typeface="Arial" panose="020B0604020202020204"/>
                        </a:rPr>
                        <a:t>How to present your poster</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a:cs typeface="Arial" panose="020B0604020202020204"/>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val="10006"/>
                  </a:ext>
                </a:extLst>
              </a:tr>
              <a:tr h="422492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D9D9D9"/>
                          </a:solidFill>
                          <a:latin typeface="Arial" panose="020B0604020202020204"/>
                          <a:cs typeface="Arial" panose="020B0604020202020204"/>
                        </a:rPr>
                        <a:t>Submit your poster and add it to the Research Poster Virtual Library.</a:t>
                      </a:r>
                      <a:br>
                        <a:rPr lang="en-US" sz="1400" b="1" noProof="0" dirty="0">
                          <a:solidFill>
                            <a:srgbClr val="D9D9D9"/>
                          </a:solidFill>
                          <a:latin typeface="Arial" panose="020B0604020202020204"/>
                          <a:cs typeface="Arial" panose="020B0604020202020204"/>
                        </a:rPr>
                      </a:br>
                      <a:br>
                        <a:rPr lang="en-US" sz="1400" b="1" noProof="0" dirty="0">
                          <a:solidFill>
                            <a:srgbClr val="D9D9D9"/>
                          </a:solidFill>
                          <a:latin typeface="Arial" panose="020B0604020202020204"/>
                          <a:cs typeface="Arial" panose="020B0604020202020204"/>
                        </a:rPr>
                      </a:br>
                      <a:r>
                        <a:rPr lang="en-US" sz="1400" b="1" noProof="0" dirty="0">
                          <a:solidFill>
                            <a:schemeClr val="accent4"/>
                          </a:solidFill>
                          <a:latin typeface="Arial" panose="020B0604020202020204"/>
                          <a:cs typeface="Arial" panose="020B0604020202020204"/>
                        </a:rPr>
                        <a:t>Continuous</a:t>
                      </a:r>
                      <a:r>
                        <a:rPr lang="en-US" sz="1400" b="1" noProof="0" dirty="0">
                          <a:solidFill>
                            <a:srgbClr val="D9D9D9"/>
                          </a:solidFill>
                          <a:latin typeface="Arial" panose="020B0604020202020204"/>
                          <a:cs typeface="Arial" panose="020B0604020202020204"/>
                        </a:rPr>
                        <a:t> </a:t>
                      </a:r>
                      <a:r>
                        <a:rPr lang="en-US" sz="1400" b="1" noProof="0" dirty="0">
                          <a:solidFill>
                            <a:srgbClr val="FFC000"/>
                          </a:solidFill>
                          <a:latin typeface="Arial" panose="020B0604020202020204"/>
                          <a:cs typeface="Arial" panose="020B0604020202020204"/>
                        </a:rPr>
                        <a:t>global reach</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Published posters can easily be presented at virtual conferences. Perfect solution for organizers of meetings and conferences.</a:t>
                      </a:r>
                      <a:br>
                        <a:rPr lang="en-US" sz="1400" b="1" noProof="0" dirty="0">
                          <a:solidFill>
                            <a:srgbClr val="D9D9D9"/>
                          </a:solidFill>
                          <a:latin typeface="Arial" panose="020B0604020202020204"/>
                          <a:cs typeface="Arial" panose="020B0604020202020204"/>
                        </a:rPr>
                      </a:b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hlinkClick r:id="rId11"/>
                        </a:rPr>
                        <a:t>https://www.PosterPresentations.com/</a:t>
                      </a:r>
                      <a:r>
                        <a:rPr lang="en-US" sz="1600" b="1" u="sng" noProof="0" dirty="0">
                          <a:solidFill>
                            <a:srgbClr val="FFC000"/>
                          </a:solidFill>
                          <a:latin typeface="Arial" panose="020B0604020202020204"/>
                          <a:cs typeface="Arial" panose="020B0604020202020204"/>
                          <a:hlinkClick r:id="rId11"/>
                        </a:rPr>
                        <a:t>research</a:t>
                      </a:r>
                      <a:endParaRPr lang="en-US" sz="1600" b="1" u="sng"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txBody>
                  <a:tcPr marL="95264" marR="95264" marT="47632" marB="47632">
                    <a:solidFill>
                      <a:srgbClr val="003366"/>
                    </a:solidFill>
                  </a:tcPr>
                </a:tc>
                <a:tc hMerge="1">
                  <a:txBody>
                    <a:bodyPr/>
                    <a:lstStyle/>
                    <a:p>
                      <a:endParaRPr lang="en-US"/>
                    </a:p>
                  </a:txBody>
                  <a:tcPr/>
                </a:tc>
                <a:tc hMerge="1">
                  <a:txBody>
                    <a:bodyPr/>
                    <a:lstStyle/>
                    <a:p>
                      <a:endParaRPr lang="en-US"/>
                    </a:p>
                  </a:txBody>
                  <a:tcPr marL="95264" marR="95264" marT="47632" marB="47632">
                    <a:solidFill>
                      <a:schemeClr val="accent5">
                        <a:lumMod val="50000"/>
                      </a:schemeClr>
                    </a:solidFill>
                  </a:tcPr>
                </a:tc>
                <a:extLst>
                  <a:ext uri="{0D108BD9-81ED-4DB2-BD59-A6C34878D82A}">
                    <a16:rowId xmlns:a16="http://schemas.microsoft.com/office/drawing/2014/main" val="1000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560893">
                <a:tc>
                  <a:txBody>
                    <a:bodyPr/>
                    <a:lstStyle/>
                    <a:p>
                      <a:pPr>
                        <a:lnSpc>
                          <a:spcPct val="100000"/>
                        </a:lnSpc>
                      </a:pPr>
                      <a:r>
                        <a:rPr lang="en-US" sz="1000" dirty="0">
                          <a:solidFill>
                            <a:schemeClr val="bg1">
                              <a:lumMod val="85000"/>
                            </a:schemeClr>
                          </a:solidFill>
                          <a:latin typeface="Arial" panose="020B0604020202020204"/>
                          <a:cs typeface="Arial" panose="020B0604020202020204"/>
                        </a:rPr>
                        <a:t>© 2020</a:t>
                      </a:r>
                      <a:r>
                        <a:rPr lang="en-US" sz="1000" baseline="0" dirty="0">
                          <a:solidFill>
                            <a:schemeClr val="bg1">
                              <a:lumMod val="85000"/>
                            </a:schemeClr>
                          </a:solidFill>
                          <a:latin typeface="Arial" panose="020B0604020202020204"/>
                          <a:cs typeface="Arial" panose="020B0604020202020204"/>
                        </a:rPr>
                        <a:t> </a:t>
                      </a:r>
                      <a:r>
                        <a:rPr lang="en-US" sz="1000" dirty="0" err="1">
                          <a:solidFill>
                            <a:schemeClr val="bg1">
                              <a:lumMod val="85000"/>
                            </a:schemeClr>
                          </a:solidFill>
                          <a:latin typeface="Arial" panose="020B0604020202020204"/>
                          <a:cs typeface="Arial" panose="020B0604020202020204"/>
                        </a:rPr>
                        <a:t>PosterPresentations.com</a:t>
                      </a:r>
                      <a:br>
                        <a:rPr lang="en-US" sz="1000" dirty="0">
                          <a:solidFill>
                            <a:schemeClr val="bg1">
                              <a:lumMod val="85000"/>
                            </a:schemeClr>
                          </a:solidFill>
                          <a:latin typeface="Arial" panose="020B0604020202020204"/>
                          <a:cs typeface="Arial" panose="020B0604020202020204"/>
                        </a:rPr>
                      </a:br>
                      <a:r>
                        <a:rPr lang="en-US" sz="1000" dirty="0">
                          <a:solidFill>
                            <a:schemeClr val="bg1">
                              <a:lumMod val="85000"/>
                            </a:schemeClr>
                          </a:solidFill>
                          <a:latin typeface="Arial" panose="020B0604020202020204"/>
                          <a:cs typeface="Arial" panose="020B0604020202020204"/>
                        </a:rPr>
                        <a:t>2117 Fourth Street ,</a:t>
                      </a:r>
                      <a:r>
                        <a:rPr lang="en-US" sz="1000" baseline="0" dirty="0">
                          <a:solidFill>
                            <a:schemeClr val="bg1">
                              <a:lumMod val="85000"/>
                            </a:schemeClr>
                          </a:solidFill>
                          <a:latin typeface="Arial" panose="020B0604020202020204"/>
                          <a:cs typeface="Arial" panose="020B0604020202020204"/>
                        </a:rPr>
                        <a:t> STE C        </a:t>
                      </a:r>
                    </a:p>
                    <a:p>
                      <a:pPr>
                        <a:lnSpc>
                          <a:spcPct val="100000"/>
                        </a:lnSpc>
                      </a:pPr>
                      <a:r>
                        <a:rPr lang="en-US" sz="1000" baseline="0" dirty="0">
                          <a:solidFill>
                            <a:schemeClr val="bg1">
                              <a:lumMod val="85000"/>
                            </a:schemeClr>
                          </a:solidFill>
                          <a:latin typeface="Arial" panose="020B0604020202020204"/>
                          <a:cs typeface="Arial" panose="020B0604020202020204"/>
                        </a:rPr>
                        <a:t>Berkeley CA 94710 USA</a:t>
                      </a:r>
                      <a:endParaRPr lang="en-US" sz="1000" dirty="0">
                        <a:solidFill>
                          <a:schemeClr val="bg1">
                            <a:lumMod val="85000"/>
                          </a:schemeClr>
                        </a:solidFill>
                        <a:latin typeface="Arial" panose="020B0604020202020204"/>
                        <a:cs typeface="Arial" panose="020B0604020202020204"/>
                      </a:endParaRPr>
                    </a:p>
                  </a:txBody>
                  <a:tcPr marL="106881" marR="53440" marT="70140" marB="23380">
                    <a:solidFill>
                      <a:srgbClr val="010101"/>
                    </a:solidFill>
                  </a:tcPr>
                </a:tc>
                <a:tc gridSpan="2">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300" b="1" dirty="0">
                          <a:solidFill>
                            <a:srgbClr val="D0D0D0"/>
                          </a:solidFill>
                          <a:latin typeface="Arial" panose="020B0604020202020204"/>
                          <a:cs typeface="Arial" panose="020B0604020202020204"/>
                        </a:rPr>
                        <a:t>For poster-making tutorials</a:t>
                      </a:r>
                      <a:r>
                        <a:rPr lang="en-US" sz="1300" b="1" baseline="0" dirty="0">
                          <a:solidFill>
                            <a:srgbClr val="D0D0D0"/>
                          </a:solidFill>
                          <a:latin typeface="Arial" panose="020B0604020202020204"/>
                          <a:cs typeface="Arial" panose="020B0604020202020204"/>
                        </a:rPr>
                        <a:t> visit:</a:t>
                      </a:r>
                    </a:p>
                    <a:p>
                      <a:pPr marL="0" marR="0" indent="0" algn="l" defTabSz="4389120" rtl="0" eaLnBrk="1" fontAlgn="auto" latinLnBrk="0" hangingPunct="1">
                        <a:lnSpc>
                          <a:spcPct val="100000"/>
                        </a:lnSpc>
                        <a:spcBef>
                          <a:spcPts val="0"/>
                        </a:spcBef>
                        <a:spcAft>
                          <a:spcPts val="0"/>
                        </a:spcAft>
                        <a:buClrTx/>
                        <a:buSzTx/>
                        <a:buFontTx/>
                        <a:buNone/>
                        <a:defRPr/>
                      </a:pPr>
                      <a:r>
                        <a:rPr lang="en-US" sz="900" b="1" dirty="0">
                          <a:solidFill>
                            <a:srgbClr val="FFC000"/>
                          </a:solidFill>
                          <a:latin typeface="Arial" panose="020B0604020202020204"/>
                          <a:cs typeface="Arial" panose="020B0604020202020204"/>
                        </a:rPr>
                        <a:t>https://</a:t>
                      </a:r>
                      <a:r>
                        <a:rPr lang="en-US" sz="900" b="1" dirty="0" err="1">
                          <a:solidFill>
                            <a:srgbClr val="FFC000"/>
                          </a:solidFill>
                          <a:latin typeface="Arial" panose="020B0604020202020204"/>
                          <a:cs typeface="Arial" panose="020B0604020202020204"/>
                        </a:rPr>
                        <a:t>www.posterpresentations.com</a:t>
                      </a:r>
                      <a:r>
                        <a:rPr lang="en-US" sz="900" b="1" dirty="0">
                          <a:solidFill>
                            <a:srgbClr val="FFC000"/>
                          </a:solidFill>
                          <a:latin typeface="Arial" panose="020B0604020202020204"/>
                          <a:cs typeface="Arial" panose="020B0604020202020204"/>
                        </a:rPr>
                        <a:t>/</a:t>
                      </a:r>
                      <a:r>
                        <a:rPr lang="en-US" sz="900" b="1" dirty="0" err="1">
                          <a:solidFill>
                            <a:srgbClr val="FFC000"/>
                          </a:solidFill>
                          <a:latin typeface="Arial" panose="020B0604020202020204"/>
                          <a:cs typeface="Arial" panose="020B0604020202020204"/>
                        </a:rPr>
                        <a:t>helpdesk.html</a:t>
                      </a:r>
                      <a:endParaRPr lang="en-US" sz="900" dirty="0">
                        <a:solidFill>
                          <a:schemeClr val="bg1">
                            <a:lumMod val="85000"/>
                          </a:schemeClr>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2675255" rtl="0" eaLnBrk="1" latinLnBrk="0" hangingPunct="1">
        <a:spcBef>
          <a:spcPct val="0"/>
        </a:spcBef>
        <a:buNone/>
        <a:defRPr sz="5335" kern="1200">
          <a:solidFill>
            <a:schemeClr val="bg1"/>
          </a:solidFill>
          <a:latin typeface="Trebuchet MS" panose="020B0603020202020204" pitchFamily="34" charset="0"/>
          <a:ea typeface="+mj-ea"/>
          <a:cs typeface="+mj-cs"/>
        </a:defRPr>
      </a:lvl1pPr>
    </p:titleStyle>
    <p:bodyStyle>
      <a:lvl1pPr marL="1003300" indent="-1003300" algn="l" defTabSz="2675255" rtl="0" eaLnBrk="1" latinLnBrk="0" hangingPunct="1">
        <a:spcBef>
          <a:spcPct val="20000"/>
        </a:spcBef>
        <a:buFont typeface="Arial" panose="020B0604020202020204" pitchFamily="34" charset="0"/>
        <a:buChar char="•"/>
        <a:defRPr sz="9385" kern="1200">
          <a:solidFill>
            <a:schemeClr val="tx1"/>
          </a:solidFill>
          <a:latin typeface="+mn-lt"/>
          <a:ea typeface="+mn-ea"/>
          <a:cs typeface="+mn-cs"/>
        </a:defRPr>
      </a:lvl1pPr>
      <a:lvl2pPr marL="2173605" indent="-836295" algn="l" defTabSz="2675255" rtl="0" eaLnBrk="1" latinLnBrk="0" hangingPunct="1">
        <a:spcBef>
          <a:spcPct val="20000"/>
        </a:spcBef>
        <a:buFont typeface="Arial" panose="020B0604020202020204" pitchFamily="34" charset="0"/>
        <a:buChar char="–"/>
        <a:defRPr sz="8215" kern="1200">
          <a:solidFill>
            <a:schemeClr val="tx1"/>
          </a:solidFill>
          <a:latin typeface="+mn-lt"/>
          <a:ea typeface="+mn-ea"/>
          <a:cs typeface="+mn-cs"/>
        </a:defRPr>
      </a:lvl2pPr>
      <a:lvl3pPr marL="3343910" indent="-668655" algn="l" defTabSz="2675255" rtl="0" eaLnBrk="1" latinLnBrk="0" hangingPunct="1">
        <a:spcBef>
          <a:spcPct val="20000"/>
        </a:spcBef>
        <a:buFont typeface="Arial" panose="020B0604020202020204" pitchFamily="34" charset="0"/>
        <a:buChar char="•"/>
        <a:defRPr sz="7040" kern="1200">
          <a:solidFill>
            <a:schemeClr val="tx1"/>
          </a:solidFill>
          <a:latin typeface="+mn-lt"/>
          <a:ea typeface="+mn-ea"/>
          <a:cs typeface="+mn-cs"/>
        </a:defRPr>
      </a:lvl3pPr>
      <a:lvl4pPr marL="468185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4pPr>
      <a:lvl5pPr marL="60191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5pPr>
      <a:lvl6pPr marL="735711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6pPr>
      <a:lvl7pPr marL="869442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7pPr>
      <a:lvl8pPr marL="100323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8pPr>
      <a:lvl9pPr marL="1136967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9pPr>
    </p:bodyStyle>
    <p:otherStyle>
      <a:defPPr>
        <a:defRPr lang="en-US"/>
      </a:defPPr>
      <a:lvl1pPr marL="0" algn="l" defTabSz="2675255" rtl="0" eaLnBrk="1" latinLnBrk="0" hangingPunct="1">
        <a:defRPr sz="5225" kern="1200">
          <a:solidFill>
            <a:schemeClr val="tx1"/>
          </a:solidFill>
          <a:latin typeface="+mn-lt"/>
          <a:ea typeface="+mn-ea"/>
          <a:cs typeface="+mn-cs"/>
        </a:defRPr>
      </a:lvl1pPr>
      <a:lvl2pPr marL="1337310" algn="l" defTabSz="2675255" rtl="0" eaLnBrk="1" latinLnBrk="0" hangingPunct="1">
        <a:defRPr sz="5225" kern="1200">
          <a:solidFill>
            <a:schemeClr val="tx1"/>
          </a:solidFill>
          <a:latin typeface="+mn-lt"/>
          <a:ea typeface="+mn-ea"/>
          <a:cs typeface="+mn-cs"/>
        </a:defRPr>
      </a:lvl2pPr>
      <a:lvl3pPr marL="2675255" algn="l" defTabSz="2675255" rtl="0" eaLnBrk="1" latinLnBrk="0" hangingPunct="1">
        <a:defRPr sz="5225" kern="1200">
          <a:solidFill>
            <a:schemeClr val="tx1"/>
          </a:solidFill>
          <a:latin typeface="+mn-lt"/>
          <a:ea typeface="+mn-ea"/>
          <a:cs typeface="+mn-cs"/>
        </a:defRPr>
      </a:lvl3pPr>
      <a:lvl4pPr marL="4012565" algn="l" defTabSz="2675255" rtl="0" eaLnBrk="1" latinLnBrk="0" hangingPunct="1">
        <a:defRPr sz="5225" kern="1200">
          <a:solidFill>
            <a:schemeClr val="tx1"/>
          </a:solidFill>
          <a:latin typeface="+mn-lt"/>
          <a:ea typeface="+mn-ea"/>
          <a:cs typeface="+mn-cs"/>
        </a:defRPr>
      </a:lvl4pPr>
      <a:lvl5pPr marL="5350510" algn="l" defTabSz="2675255" rtl="0" eaLnBrk="1" latinLnBrk="0" hangingPunct="1">
        <a:defRPr sz="5225" kern="1200">
          <a:solidFill>
            <a:schemeClr val="tx1"/>
          </a:solidFill>
          <a:latin typeface="+mn-lt"/>
          <a:ea typeface="+mn-ea"/>
          <a:cs typeface="+mn-cs"/>
        </a:defRPr>
      </a:lvl5pPr>
      <a:lvl6pPr marL="6687820" algn="l" defTabSz="2675255" rtl="0" eaLnBrk="1" latinLnBrk="0" hangingPunct="1">
        <a:defRPr sz="5225" kern="1200">
          <a:solidFill>
            <a:schemeClr val="tx1"/>
          </a:solidFill>
          <a:latin typeface="+mn-lt"/>
          <a:ea typeface="+mn-ea"/>
          <a:cs typeface="+mn-cs"/>
        </a:defRPr>
      </a:lvl6pPr>
      <a:lvl7pPr marL="8025765" algn="l" defTabSz="2675255" rtl="0" eaLnBrk="1" latinLnBrk="0" hangingPunct="1">
        <a:defRPr sz="5225" kern="1200">
          <a:solidFill>
            <a:schemeClr val="tx1"/>
          </a:solidFill>
          <a:latin typeface="+mn-lt"/>
          <a:ea typeface="+mn-ea"/>
          <a:cs typeface="+mn-cs"/>
        </a:defRPr>
      </a:lvl7pPr>
      <a:lvl8pPr marL="9363075" algn="l" defTabSz="2675255" rtl="0" eaLnBrk="1" latinLnBrk="0" hangingPunct="1">
        <a:defRPr sz="5225" kern="1200">
          <a:solidFill>
            <a:schemeClr val="tx1"/>
          </a:solidFill>
          <a:latin typeface="+mn-lt"/>
          <a:ea typeface="+mn-ea"/>
          <a:cs typeface="+mn-cs"/>
        </a:defRPr>
      </a:lvl8pPr>
      <a:lvl9pPr marL="10701020" algn="l" defTabSz="2675255" rtl="0" eaLnBrk="1" latinLnBrk="0" hangingPunct="1">
        <a:defRPr sz="522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 name="Rectangle 36"/>
          <p:cNvSpPr/>
          <p:nvPr userDrawn="1"/>
        </p:nvSpPr>
        <p:spPr>
          <a:xfrm rot="10800000">
            <a:off x="-2" y="15922872"/>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10" name="Text Box 14"/>
          <p:cNvSpPr txBox="1">
            <a:spLocks noChangeArrowheads="1"/>
          </p:cNvSpPr>
          <p:nvPr/>
        </p:nvSpPr>
        <p:spPr bwMode="auto">
          <a:xfrm>
            <a:off x="957921" y="16116301"/>
            <a:ext cx="1676400" cy="204085"/>
          </a:xfrm>
          <a:prstGeom prst="rect">
            <a:avLst/>
          </a:prstGeom>
          <a:noFill/>
          <a:ln w="9525">
            <a:noFill/>
            <a:miter lim="800000"/>
          </a:ln>
          <a:effectLst/>
        </p:spPr>
        <p:txBody>
          <a:bodyPr lIns="55627" tIns="27808" rIns="55627" bIns="27808">
            <a:spAutoFit/>
          </a:bodyPr>
          <a:lstStyle/>
          <a:p>
            <a:pPr eaLnBrk="0" hangingPunct="0">
              <a:lnSpc>
                <a:spcPct val="65000"/>
              </a:lnSpc>
              <a:spcBef>
                <a:spcPct val="50000"/>
              </a:spcBef>
              <a:defRPr/>
            </a:pPr>
            <a:r>
              <a:rPr lang="en-US" sz="320" b="1" dirty="0">
                <a:solidFill>
                  <a:schemeClr val="bg1">
                    <a:lumMod val="75000"/>
                  </a:schemeClr>
                </a:solidFill>
                <a:latin typeface="Arial" panose="020B0604020202020204" pitchFamily="34" charset="0"/>
              </a:rPr>
              <a:t>RESEARCH POSTER PRESENTATION DESIGN © 2019</a:t>
            </a:r>
          </a:p>
          <a:p>
            <a:pPr eaLnBrk="0" hangingPunct="0">
              <a:lnSpc>
                <a:spcPct val="65000"/>
              </a:lnSpc>
              <a:spcBef>
                <a:spcPct val="50000"/>
              </a:spcBef>
              <a:defRPr/>
            </a:pPr>
            <a:r>
              <a:rPr lang="en-US" sz="640" b="1" dirty="0">
                <a:solidFill>
                  <a:schemeClr val="bg1">
                    <a:lumMod val="75000"/>
                  </a:schemeClr>
                </a:solidFill>
                <a:latin typeface="Arial" panose="020B0604020202020204" pitchFamily="34" charset="0"/>
              </a:rPr>
              <a:t>www.PosterPresentations.com</a:t>
            </a:r>
          </a:p>
        </p:txBody>
      </p:sp>
      <p:sp>
        <p:nvSpPr>
          <p:cNvPr id="38" name="Rectangle 37"/>
          <p:cNvSpPr/>
          <p:nvPr userDrawn="1"/>
        </p:nvSpPr>
        <p:spPr>
          <a:xfrm>
            <a:off x="-1" y="-55064"/>
            <a:ext cx="29260801" cy="536328"/>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39" name="Rectangle 38"/>
          <p:cNvSpPr/>
          <p:nvPr userDrawn="1"/>
        </p:nvSpPr>
        <p:spPr>
          <a:xfrm>
            <a:off x="1" y="2212340"/>
            <a:ext cx="29260800" cy="176023"/>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40" name="Rounded Rectangle 39"/>
          <p:cNvSpPr/>
          <p:nvPr userDrawn="1"/>
        </p:nvSpPr>
        <p:spPr>
          <a:xfrm>
            <a:off x="623438" y="2628900"/>
            <a:ext cx="6691762"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41" name="Rounded Rectangle 40"/>
          <p:cNvSpPr/>
          <p:nvPr userDrawn="1"/>
        </p:nvSpPr>
        <p:spPr>
          <a:xfrm>
            <a:off x="21959438" y="2628900"/>
            <a:ext cx="6691762" cy="13273652"/>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sp>
        <p:nvSpPr>
          <p:cNvPr id="42" name="Rounded Rectangle 41"/>
          <p:cNvSpPr/>
          <p:nvPr userDrawn="1"/>
        </p:nvSpPr>
        <p:spPr>
          <a:xfrm>
            <a:off x="7697362" y="2628900"/>
            <a:ext cx="13879915" cy="13273652"/>
          </a:xfrm>
          <a:prstGeom prst="roundRect">
            <a:avLst>
              <a:gd name="adj" fmla="val 1155"/>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25"/>
          </a:p>
        </p:txBody>
      </p:sp>
      <p:graphicFrame>
        <p:nvGraphicFramePr>
          <p:cNvPr id="12" name="Table 11"/>
          <p:cNvGraphicFramePr>
            <a:graphicFrameLocks noGrp="1"/>
          </p:cNvGraphicFramePr>
          <p:nvPr userDrawn="1"/>
        </p:nvGraphicFramePr>
        <p:xfrm>
          <a:off x="-5980711" y="48126"/>
          <a:ext cx="5621803" cy="16470768"/>
        </p:xfrm>
        <a:graphic>
          <a:graphicData uri="http://schemas.openxmlformats.org/drawingml/2006/table">
            <a:tbl>
              <a:tblPr firstRow="1" bandRow="1">
                <a:tableStyleId>{5C22544A-7EE6-4342-B048-85BDC9FD1C3A}</a:tableStyleId>
              </a:tblPr>
              <a:tblGrid>
                <a:gridCol w="2410585">
                  <a:extLst>
                    <a:ext uri="{9D8B030D-6E8A-4147-A177-3AD203B41FA5}">
                      <a16:colId xmlns:a16="http://schemas.microsoft.com/office/drawing/2014/main" val="20000"/>
                    </a:ext>
                  </a:extLst>
                </a:gridCol>
                <a:gridCol w="3211218">
                  <a:extLst>
                    <a:ext uri="{9D8B030D-6E8A-4147-A177-3AD203B41FA5}">
                      <a16:colId xmlns:a16="http://schemas.microsoft.com/office/drawing/2014/main" val="20001"/>
                    </a:ext>
                  </a:extLst>
                </a:gridCol>
              </a:tblGrid>
              <a:tr h="668723">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1900" b="0" spc="600" dirty="0">
                          <a:solidFill>
                            <a:srgbClr val="1F3A4E"/>
                          </a:solidFill>
                          <a:latin typeface="Arial Black" panose="020B0A04020102020204" pitchFamily="34" charset="0"/>
                        </a:rPr>
                        <a:t>QUICK START GUIDE</a:t>
                      </a:r>
                      <a:br>
                        <a:rPr lang="en-US" sz="1900" b="0" spc="600" dirty="0">
                          <a:solidFill>
                            <a:srgbClr val="1F3A4E"/>
                          </a:solidFill>
                          <a:latin typeface="Arial Black" panose="020B0A04020102020204" pitchFamily="34" charset="0"/>
                        </a:rPr>
                      </a:br>
                      <a:r>
                        <a:rPr lang="en-US" sz="1400" b="1" spc="0" dirty="0">
                          <a:solidFill>
                            <a:srgbClr val="FF0000"/>
                          </a:solidFill>
                          <a:latin typeface="Trebuchet MS" panose="020B0603020202020204" pitchFamily="34" charset="0"/>
                        </a:rPr>
                        <a:t>(THIS SIDEBAR WILL NOT PRINT)</a:t>
                      </a:r>
                      <a:endParaRPr lang="en-US" sz="1900" b="1" spc="600" dirty="0">
                        <a:solidFill>
                          <a:schemeClr val="bg1"/>
                        </a:solidFill>
                        <a:latin typeface="Trebuchet MS" panose="020B0603020202020204" pitchFamily="34" charset="0"/>
                      </a:endParaRPr>
                    </a:p>
                  </a:txBody>
                  <a:tcPr marL="71080" marR="71080" marT="35540" marB="35540">
                    <a:solidFill>
                      <a:srgbClr val="FFC000"/>
                    </a:solidFill>
                  </a:tcPr>
                </a:tc>
                <a:tc hMerge="1">
                  <a:txBody>
                    <a:bodyPr/>
                    <a:lstStyle/>
                    <a:p>
                      <a:endParaRPr lang="en-US"/>
                    </a:p>
                  </a:txBody>
                  <a:tcPr/>
                </a:tc>
                <a:extLst>
                  <a:ext uri="{0D108BD9-81ED-4DB2-BD59-A6C34878D82A}">
                    <a16:rowId xmlns:a16="http://schemas.microsoft.com/office/drawing/2014/main" val="10000"/>
                  </a:ext>
                </a:extLst>
              </a:tr>
              <a:tr h="2116496">
                <a:tc gridSpan="2">
                  <a:txBody>
                    <a:bodyPr/>
                    <a:lstStyle/>
                    <a:p>
                      <a:pPr defTabSz="3765550"/>
                      <a:r>
                        <a:rPr lang="en-US" sz="1000" i="0" dirty="0">
                          <a:solidFill>
                            <a:srgbClr val="D9D9D9"/>
                          </a:solidFill>
                          <a:latin typeface="Arial" panose="020B0604020202020204"/>
                          <a:cs typeface="Arial" panose="020B0604020202020204"/>
                        </a:rPr>
                        <a:t>This PowerPoint template produces a </a:t>
                      </a:r>
                      <a:r>
                        <a:rPr lang="en-US" sz="1200" i="0" dirty="0">
                          <a:solidFill>
                            <a:srgbClr val="FFC000"/>
                          </a:solidFill>
                          <a:latin typeface="Arial" panose="020B0604020202020204"/>
                          <a:cs typeface="Arial" panose="020B0604020202020204"/>
                        </a:rPr>
                        <a:t>wide screen size (16:9 Ratio) virtual </a:t>
                      </a:r>
                      <a:r>
                        <a:rPr lang="en-US" sz="10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the  </a:t>
                      </a:r>
                      <a:r>
                        <a:rPr lang="en-US" sz="1000" i="0" dirty="0">
                          <a:solidFill>
                            <a:srgbClr val="FFC000"/>
                          </a:solidFill>
                          <a:latin typeface="Arial" panose="020B0604020202020204"/>
                          <a:cs typeface="Arial" panose="020B0604020202020204"/>
                        </a:rPr>
                        <a:t>HELP DESK</a:t>
                      </a:r>
                      <a:r>
                        <a:rPr lang="en-US" sz="1000" i="0" baseline="0" dirty="0">
                          <a:solidFill>
                            <a:srgbClr val="D9D9D9"/>
                          </a:solidFill>
                          <a:latin typeface="Arial" panose="020B0604020202020204"/>
                          <a:cs typeface="Arial" panose="020B0604020202020204"/>
                        </a:rPr>
                        <a:t> </a:t>
                      </a:r>
                      <a:r>
                        <a:rPr lang="en-US" sz="1000" i="0" dirty="0">
                          <a:solidFill>
                            <a:srgbClr val="D9D9D9"/>
                          </a:solidFill>
                          <a:latin typeface="Arial" panose="020B0604020202020204"/>
                          <a:cs typeface="Arial" panose="020B0604020202020204"/>
                        </a:rPr>
                        <a:t>tab.</a:t>
                      </a:r>
                    </a:p>
                    <a:p>
                      <a:pPr defTabSz="3765550"/>
                      <a:endParaRPr lang="en-US" sz="1000" i="0" dirty="0">
                        <a:solidFill>
                          <a:srgbClr val="D9D9D9"/>
                        </a:solidFill>
                        <a:latin typeface="Arial" panose="020B0604020202020204"/>
                        <a:cs typeface="Arial" panose="020B0604020202020204"/>
                      </a:endParaRPr>
                    </a:p>
                    <a:p>
                      <a:pPr defTabSz="3765550"/>
                      <a:r>
                        <a:rPr lang="en-US" sz="1000" i="0" dirty="0">
                          <a:solidFill>
                            <a:srgbClr val="D9D9D9"/>
                          </a:solidFill>
                          <a:latin typeface="Arial" panose="020B0604020202020204"/>
                          <a:cs typeface="Arial" panose="020B0604020202020204"/>
                        </a:rPr>
                        <a:t>To print your poster using our same-day professional printing service, go online to </a:t>
                      </a:r>
                      <a:r>
                        <a:rPr lang="en-US" sz="1000" i="0" dirty="0" err="1">
                          <a:solidFill>
                            <a:srgbClr val="FFC000"/>
                          </a:solidFill>
                          <a:latin typeface="Arial" panose="020B0604020202020204"/>
                          <a:cs typeface="Arial" panose="020B0604020202020204"/>
                        </a:rPr>
                        <a:t>PosterPresentations.com</a:t>
                      </a:r>
                      <a:r>
                        <a:rPr lang="en-US" sz="1000" i="0" dirty="0">
                          <a:solidFill>
                            <a:srgbClr val="D9D9D9"/>
                          </a:solidFill>
                          <a:latin typeface="Arial" panose="020B0604020202020204"/>
                          <a:cs typeface="Arial" panose="020B0604020202020204"/>
                        </a:rPr>
                        <a:t> and click on "</a:t>
                      </a:r>
                      <a:r>
                        <a:rPr lang="en-US" sz="1000" i="0" dirty="0">
                          <a:solidFill>
                            <a:srgbClr val="FFC000"/>
                          </a:solidFill>
                          <a:latin typeface="Arial" panose="020B0604020202020204"/>
                          <a:cs typeface="Arial" panose="020B0604020202020204"/>
                        </a:rPr>
                        <a:t>Order your poster</a:t>
                      </a:r>
                      <a:r>
                        <a:rPr lang="en-US" sz="1000" i="0" dirty="0">
                          <a:solidFill>
                            <a:srgbClr val="D9D9D9"/>
                          </a:solidFill>
                          <a:latin typeface="Arial" panose="020B0604020202020204"/>
                          <a:cs typeface="Arial" panose="020B0604020202020204"/>
                        </a:rPr>
                        <a:t>".</a:t>
                      </a:r>
                      <a:endParaRPr lang="en-US" sz="1000" b="1" dirty="0">
                        <a:solidFill>
                          <a:srgbClr val="D9D9D9"/>
                        </a:solidFill>
                        <a:latin typeface="Arial" panose="020B0604020202020204"/>
                        <a:cs typeface="Arial" panose="020B0604020202020204"/>
                      </a:endParaRP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val="10001"/>
                  </a:ext>
                </a:extLst>
              </a:tr>
              <a:tr h="2300540">
                <a:tc>
                  <a:txBody>
                    <a:bodyPr/>
                    <a:lstStyle/>
                    <a:p>
                      <a:pPr algn="ctr"/>
                      <a:endParaRPr lang="en-US" sz="1200" dirty="0">
                        <a:solidFill>
                          <a:srgbClr val="1F3A4E"/>
                        </a:solidFill>
                      </a:endParaRPr>
                    </a:p>
                    <a:p>
                      <a:pPr marL="0" marR="0" indent="0" algn="ctr" defTabSz="5015865" rtl="0" eaLnBrk="1" fontAlgn="auto" latinLnBrk="0" hangingPunct="1">
                        <a:lnSpc>
                          <a:spcPct val="100000"/>
                        </a:lnSpc>
                        <a:spcBef>
                          <a:spcPts val="0"/>
                        </a:spcBef>
                        <a:spcAft>
                          <a:spcPts val="0"/>
                        </a:spcAft>
                        <a:buClrTx/>
                        <a:buSzTx/>
                        <a:buFontTx/>
                        <a:buNone/>
                        <a:defRPr/>
                      </a:pPr>
                      <a:r>
                        <a:rPr lang="en-US" sz="1200" dirty="0">
                          <a:solidFill>
                            <a:schemeClr val="bg1"/>
                          </a:solidFill>
                          <a:latin typeface="Arial" panose="020B0604020202020204" pitchFamily="34" charset="0"/>
                          <a:cs typeface="Arial" panose="020B0604020202020204" pitchFamily="34" charset="0"/>
                        </a:rPr>
                        <a:t>This is a template for a </a:t>
                      </a:r>
                    </a:p>
                    <a:p>
                      <a:pPr algn="ctr"/>
                      <a:r>
                        <a:rPr lang="en-US" sz="1200" dirty="0">
                          <a:solidFill>
                            <a:schemeClr val="bg1"/>
                          </a:solidFill>
                          <a:latin typeface="Arial" panose="020B0604020202020204" pitchFamily="34" charset="0"/>
                          <a:cs typeface="Arial" panose="020B0604020202020204" pitchFamily="34" charset="0"/>
                        </a:rPr>
                        <a:t>presentation poster</a:t>
                      </a:r>
                      <a:br>
                        <a:rPr lang="en-US" sz="1200" dirty="0">
                          <a:solidFill>
                            <a:schemeClr val="bg1"/>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Virtual</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Wide Screen</a:t>
                      </a:r>
                      <a:br>
                        <a:rPr lang="en-US" sz="20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(16:9 Ratio)</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52579" marR="52579" marT="23003" marB="23003">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Important: Check the template size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27 tall x 48 wide</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9120" rtl="0" eaLnBrk="1" fontAlgn="auto" latinLnBrk="0" hangingPunct="1">
                        <a:lnSpc>
                          <a:spcPct val="100000"/>
                        </a:lnSpc>
                        <a:spcBef>
                          <a:spcPts val="0"/>
                        </a:spcBef>
                        <a:spcAft>
                          <a:spcPts val="0"/>
                        </a:spcAft>
                        <a:buClrTx/>
                        <a:buSzTx/>
                        <a:buFontTx/>
                        <a:buNone/>
                        <a:defRPr/>
                      </a:pPr>
                      <a:r>
                        <a:rPr lang="en-US" sz="1000" b="0" baseline="0" dirty="0">
                          <a:solidFill>
                            <a:srgbClr val="FFC000"/>
                          </a:solidFill>
                          <a:latin typeface="Arial" panose="020B0604020202020204" pitchFamily="34" charset="0"/>
                          <a:cs typeface="Arial" panose="020B0604020202020204" pitchFamily="34" charset="0"/>
                        </a:rPr>
                        <a:t>45 tall x 80 wide</a:t>
                      </a:r>
                    </a:p>
                  </a:txBody>
                  <a:tcPr marL="105158" marR="52579" marT="69009" marB="23003">
                    <a:solidFill>
                      <a:srgbClr val="010101"/>
                    </a:solidFill>
                  </a:tcPr>
                </a:tc>
                <a:extLst>
                  <a:ext uri="{0D108BD9-81ED-4DB2-BD59-A6C34878D82A}">
                    <a16:rowId xmlns:a16="http://schemas.microsoft.com/office/drawing/2014/main" val="10002"/>
                  </a:ext>
                </a:extLst>
              </a:tr>
              <a:tr h="2157787">
                <a:tc>
                  <a:txBody>
                    <a:bodyPr/>
                    <a:lstStyle/>
                    <a:p>
                      <a:endParaRPr lang="en-US" sz="1000" dirty="0">
                        <a:solidFill>
                          <a:srgbClr val="1F3A4E"/>
                        </a:solidFill>
                      </a:endParaRPr>
                    </a:p>
                  </a:txBody>
                  <a:tcPr marL="52579" marR="52579" marT="23003" marB="23003">
                    <a:blipFill rotWithShape="1">
                      <a:blip r:embed="rId3"/>
                      <a:stretch>
                        <a:fillRect/>
                      </a:stretch>
                    </a:blipFill>
                  </a:tcPr>
                </a:tc>
                <a:tc>
                  <a:txBody>
                    <a:bodyPr/>
                    <a:lstStyle/>
                    <a:p>
                      <a:pPr algn="l"/>
                      <a:r>
                        <a:rPr lang="en-US" sz="1200" b="1" baseline="0" dirty="0">
                          <a:solidFill>
                            <a:srgbClr val="FFC000"/>
                          </a:solidFill>
                          <a:latin typeface="Arial" panose="020B0604020202020204" pitchFamily="34" charset="0"/>
                          <a:cs typeface="Arial" panose="020B0604020202020204" pitchFamily="34" charset="0"/>
                        </a:rPr>
                        <a:t>How to </a:t>
                      </a:r>
                      <a:r>
                        <a:rPr lang="en-US" sz="2000" b="1" baseline="0" dirty="0">
                          <a:solidFill>
                            <a:srgbClr val="FFC000"/>
                          </a:solidFill>
                          <a:latin typeface="Arial" panose="020B0604020202020204" pitchFamily="34" charset="0"/>
                          <a:cs typeface="Arial" panose="020B0604020202020204" pitchFamily="34" charset="0"/>
                        </a:rPr>
                        <a:t>Zoom in </a:t>
                      </a:r>
                      <a:r>
                        <a:rPr lang="en-US" sz="1200" b="1" baseline="0" dirty="0">
                          <a:solidFill>
                            <a:srgbClr val="FFC000"/>
                          </a:solidFill>
                          <a:latin typeface="Arial" panose="020B0604020202020204" pitchFamily="34" charset="0"/>
                          <a:cs typeface="Arial" panose="020B0604020202020204" pitchFamily="34" charset="0"/>
                        </a:rPr>
                        <a:t>and </a:t>
                      </a:r>
                      <a:r>
                        <a:rPr lang="en-US" sz="900" b="1" baseline="0" dirty="0">
                          <a:solidFill>
                            <a:srgbClr val="FFC000"/>
                          </a:solidFill>
                          <a:latin typeface="Arial" panose="020B0604020202020204" pitchFamily="34" charset="0"/>
                          <a:cs typeface="Arial" panose="020B0604020202020204" pitchFamily="34" charset="0"/>
                        </a:rPr>
                        <a:t>out</a:t>
                      </a:r>
                      <a:endParaRPr lang="en-US" sz="1200" b="1" baseline="0" dirty="0">
                        <a:solidFill>
                          <a:srgbClr val="FFC000"/>
                        </a:solidFill>
                        <a:latin typeface="Arial" panose="020B0604020202020204" pitchFamily="34" charset="0"/>
                        <a:cs typeface="Arial" panose="020B0604020202020204" pitchFamily="34" charset="0"/>
                      </a:endParaRPr>
                    </a:p>
                    <a:p>
                      <a:pPr algn="l"/>
                      <a:r>
                        <a:rPr lang="en-US" sz="1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1. </a:t>
                      </a:r>
                      <a:r>
                        <a:rPr lang="en-US" sz="1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000" b="0" baseline="0" dirty="0">
                          <a:solidFill>
                            <a:srgbClr val="D9D9D9"/>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2. </a:t>
                      </a:r>
                      <a:r>
                        <a:rPr lang="en-US" sz="1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05158" marR="52579" marT="69009" marB="23003">
                    <a:solidFill>
                      <a:srgbClr val="010101"/>
                    </a:solidFill>
                  </a:tcPr>
                </a:tc>
                <a:extLst>
                  <a:ext uri="{0D108BD9-81ED-4DB2-BD59-A6C34878D82A}">
                    <a16:rowId xmlns:a16="http://schemas.microsoft.com/office/drawing/2014/main" val="10003"/>
                  </a:ext>
                </a:extLst>
              </a:tr>
              <a:tr h="910736">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1200" b="1" baseline="0" dirty="0">
                          <a:solidFill>
                            <a:srgbClr val="FFC000"/>
                          </a:solidFill>
                          <a:latin typeface="Arial" panose="020B0604020202020204" pitchFamily="34" charset="0"/>
                          <a:cs typeface="Arial" panose="020B0604020202020204" pitchFamily="34" charset="0"/>
                        </a:rPr>
                        <a:t>Ruler and Guides</a:t>
                      </a:r>
                      <a:br>
                        <a:rPr lang="en-US" sz="1000" b="0" baseline="0" dirty="0">
                          <a:solidFill>
                            <a:srgbClr val="FFC000"/>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42161" marR="71080" marT="106621" marB="35540">
                    <a:solidFill>
                      <a:srgbClr val="010101"/>
                    </a:solidFill>
                  </a:tcPr>
                </a:tc>
                <a:tc hMerge="1">
                  <a:txBody>
                    <a:bodyPr/>
                    <a:lstStyle/>
                    <a:p>
                      <a:endParaRPr lang="en-US"/>
                    </a:p>
                  </a:txBody>
                  <a:tcPr marL="182880" marT="137160">
                    <a:solidFill>
                      <a:schemeClr val="tx1">
                        <a:lumMod val="95000"/>
                        <a:lumOff val="5000"/>
                      </a:schemeClr>
                    </a:solidFill>
                  </a:tcPr>
                </a:tc>
                <a:extLst>
                  <a:ext uri="{0D108BD9-81ED-4DB2-BD59-A6C34878D82A}">
                    <a16:rowId xmlns:a16="http://schemas.microsoft.com/office/drawing/2014/main" val="10004"/>
                  </a:ext>
                </a:extLst>
              </a:tr>
              <a:tr h="1924157">
                <a:tc>
                  <a:txBody>
                    <a:bodyPr/>
                    <a:lstStyle/>
                    <a:p>
                      <a:endParaRPr lang="en-US" sz="1000" dirty="0">
                        <a:solidFill>
                          <a:srgbClr val="1F3A4E"/>
                        </a:solidFill>
                      </a:endParaRPr>
                    </a:p>
                  </a:txBody>
                  <a:tcPr marL="52579" marR="52579" marT="23003" marB="23003">
                    <a:blipFill rotWithShape="1">
                      <a:blip r:embed="rId4"/>
                      <a:stretch>
                        <a:fillRect/>
                      </a:stretch>
                    </a:blipFill>
                  </a:tcPr>
                </a:tc>
                <a:tc>
                  <a:txBody>
                    <a:bodyPr/>
                    <a:lstStyle/>
                    <a:p>
                      <a:pPr marL="0" lvl="1" indent="0" algn="l" defTabSz="114300"/>
                      <a:r>
                        <a:rPr lang="en-US" sz="1200" b="1" baseline="0" dirty="0">
                          <a:solidFill>
                            <a:srgbClr val="FFC000"/>
                          </a:solidFill>
                          <a:latin typeface="Arial" panose="020B0604020202020204" pitchFamily="34" charset="0"/>
                          <a:cs typeface="Arial" panose="020B0604020202020204" pitchFamily="34" charset="0"/>
                        </a:rPr>
                        <a:t>Headers and text containers</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000" b="0" baseline="0" dirty="0">
                          <a:solidFill>
                            <a:schemeClr val="bg1"/>
                          </a:solidFill>
                          <a:latin typeface="Arial" panose="020B0604020202020204" pitchFamily="34" charset="0"/>
                          <a:cs typeface="Arial" panose="020B0604020202020204" pitchFamily="34" charset="0"/>
                        </a:rPr>
                      </a:br>
                      <a:r>
                        <a:rPr lang="en-US" sz="1000" b="0" baseline="0" dirty="0">
                          <a:solidFill>
                            <a:srgbClr val="FFC000"/>
                          </a:solidFill>
                          <a:latin typeface="Arial" panose="020B0604020202020204" pitchFamily="34" charset="0"/>
                          <a:cs typeface="Arial" panose="020B0604020202020204" pitchFamily="34" charset="0"/>
                        </a:rPr>
                        <a:t>-</a:t>
                      </a:r>
                      <a:r>
                        <a:rPr lang="en-US" sz="1000" b="0" baseline="0" dirty="0">
                          <a:solidFill>
                            <a:schemeClr val="bg1"/>
                          </a:solidFill>
                          <a:latin typeface="Arial" panose="020B0604020202020204" pitchFamily="34" charset="0"/>
                          <a:cs typeface="Arial" panose="020B0604020202020204" pitchFamily="34" charset="0"/>
                        </a:rPr>
                        <a:t> </a:t>
                      </a:r>
                      <a:r>
                        <a:rPr lang="en-US" sz="1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05158" marR="52579" marT="69009" marB="23003">
                    <a:solidFill>
                      <a:srgbClr val="010101"/>
                    </a:solidFill>
                  </a:tcPr>
                </a:tc>
                <a:extLst>
                  <a:ext uri="{0D108BD9-81ED-4DB2-BD59-A6C34878D82A}">
                    <a16:rowId xmlns:a16="http://schemas.microsoft.com/office/drawing/2014/main" val="10005"/>
                  </a:ext>
                </a:extLst>
              </a:tr>
              <a:tr h="1770596">
                <a:tc gridSpan="2">
                  <a:txBody>
                    <a:bodyPr/>
                    <a:lstStyle/>
                    <a:p>
                      <a:r>
                        <a:rPr lang="en-US" sz="1200" b="1" dirty="0">
                          <a:solidFill>
                            <a:srgbClr val="FFC000"/>
                          </a:solidFill>
                          <a:latin typeface="Arial" panose="020B0604020202020204" pitchFamily="34" charset="0"/>
                          <a:cs typeface="Arial" panose="020B0604020202020204" pitchFamily="34" charset="0"/>
                        </a:rPr>
                        <a:t>Adding content to the poster</a:t>
                      </a:r>
                    </a:p>
                    <a:p>
                      <a:r>
                        <a:rPr lang="en-US" sz="1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000" dirty="0">
                        <a:solidFill>
                          <a:srgbClr val="D9D9D9"/>
                        </a:solidFill>
                        <a:latin typeface="Arial" panose="020B0604020202020204" pitchFamily="34" charset="0"/>
                        <a:cs typeface="Arial" panose="020B0604020202020204" pitchFamily="34" charset="0"/>
                      </a:endParaRPr>
                    </a:p>
                  </a:txBody>
                  <a:tcPr marL="142161" marR="71080" marT="106621" marB="35540">
                    <a:solidFill>
                      <a:srgbClr val="010101"/>
                    </a:solidFill>
                  </a:tcPr>
                </a:tc>
                <a:tc hMerge="1">
                  <a:txBody>
                    <a:bodyPr/>
                    <a:lstStyle/>
                    <a:p>
                      <a:endParaRPr lang="en-US"/>
                    </a:p>
                  </a:txBody>
                  <a:tcPr marL="182880" marT="137160">
                    <a:solidFill>
                      <a:srgbClr val="010101"/>
                    </a:solidFill>
                  </a:tcPr>
                </a:tc>
                <a:extLst>
                  <a:ext uri="{0D108BD9-81ED-4DB2-BD59-A6C34878D82A}">
                    <a16:rowId xmlns:a16="http://schemas.microsoft.com/office/drawing/2014/main" val="10006"/>
                  </a:ext>
                </a:extLst>
              </a:tr>
              <a:tr h="119628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defRPr/>
                      </a:pPr>
                      <a:r>
                        <a:rPr kumimoji="0" lang="en-US" sz="10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71080" marR="71080" marT="35540" marB="35540">
                    <a:solidFill>
                      <a:srgbClr val="010101"/>
                    </a:solidFill>
                  </a:tcPr>
                </a:tc>
                <a:tc hMerge="1">
                  <a:txBody>
                    <a:bodyPr/>
                    <a:lstStyle/>
                    <a:p>
                      <a:endParaRPr lang="en-US"/>
                    </a:p>
                  </a:txBody>
                  <a:tcPr/>
                </a:tc>
                <a:extLst>
                  <a:ext uri="{0D108BD9-81ED-4DB2-BD59-A6C34878D82A}">
                    <a16:rowId xmlns:a16="http://schemas.microsoft.com/office/drawing/2014/main" val="10007"/>
                  </a:ext>
                </a:extLst>
              </a:tr>
              <a:tr h="1153772">
                <a:tc gridSpan="2">
                  <a:txBody>
                    <a:bodyPr/>
                    <a:lstStyle/>
                    <a:p>
                      <a:endParaRPr lang="en-US" sz="1000" dirty="0">
                        <a:solidFill>
                          <a:schemeClr val="bg1"/>
                        </a:solidFill>
                        <a:latin typeface="Arial" panose="020B0604020202020204" pitchFamily="34" charset="0"/>
                        <a:cs typeface="Arial" panose="020B0604020202020204" pitchFamily="34" charset="0"/>
                      </a:endParaRPr>
                    </a:p>
                  </a:txBody>
                  <a:tcPr marL="71080" marR="71080" marT="35540" marB="35540">
                    <a:blipFill rotWithShape="1">
                      <a:blip r:embed="rId5"/>
                      <a:stretch>
                        <a:fillRect/>
                      </a:stretch>
                    </a:blipFill>
                  </a:tcPr>
                </a:tc>
                <a:tc hMerge="1">
                  <a:txBody>
                    <a:bodyPr/>
                    <a:lstStyle/>
                    <a:p>
                      <a:endParaRPr lang="en-US"/>
                    </a:p>
                  </a:txBody>
                  <a:tcPr/>
                </a:tc>
                <a:extLst>
                  <a:ext uri="{0D108BD9-81ED-4DB2-BD59-A6C34878D82A}">
                    <a16:rowId xmlns:a16="http://schemas.microsoft.com/office/drawing/2014/main" val="10008"/>
                  </a:ext>
                </a:extLst>
              </a:tr>
              <a:tr h="64415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200" b="1" noProof="0" dirty="0">
                          <a:solidFill>
                            <a:srgbClr val="FFC000"/>
                          </a:solidFill>
                          <a:latin typeface="Arial" panose="020B0604020202020204"/>
                          <a:cs typeface="Arial" panose="020B0604020202020204"/>
                        </a:rPr>
                        <a:t>Quality check your graphics</a:t>
                      </a:r>
                    </a:p>
                    <a:p>
                      <a:pPr marL="0" marR="0" lvl="0" indent="0" algn="l" defTabSz="1518285" rtl="0" eaLnBrk="1" fontAlgn="auto" latinLnBrk="0" hangingPunct="1">
                        <a:lnSpc>
                          <a:spcPct val="100000"/>
                        </a:lnSpc>
                        <a:spcBef>
                          <a:spcPts val="0"/>
                        </a:spcBef>
                        <a:spcAft>
                          <a:spcPts val="0"/>
                        </a:spcAft>
                        <a:buClrTx/>
                        <a:buSzTx/>
                        <a:buFontTx/>
                        <a:buNone/>
                        <a:defRPr/>
                      </a:pPr>
                      <a:r>
                        <a:rPr lang="en-US" sz="1000" noProof="0" dirty="0">
                          <a:solidFill>
                            <a:srgbClr val="D9D9D9"/>
                          </a:solidFill>
                          <a:latin typeface="Arial" panose="020B0604020202020204"/>
                          <a:cs typeface="Arial" panose="020B0604020202020204"/>
                        </a:rPr>
                        <a:t>Zoom in and look at your images at 100%-200% magnification. If they look clear, they will print well. </a:t>
                      </a:r>
                    </a:p>
                  </a:txBody>
                  <a:tcPr marL="71080" marR="71080" marT="35540" marB="35540">
                    <a:solidFill>
                      <a:srgbClr val="010101"/>
                    </a:solidFill>
                  </a:tcPr>
                </a:tc>
                <a:tc hMerge="1">
                  <a:txBody>
                    <a:bodyPr/>
                    <a:lstStyle/>
                    <a:p>
                      <a:endParaRPr lang="en-US"/>
                    </a:p>
                  </a:txBody>
                  <a:tcPr>
                    <a:solidFill>
                      <a:schemeClr val="tx1">
                        <a:lumMod val="95000"/>
                        <a:lumOff val="5000"/>
                      </a:schemeClr>
                    </a:solidFill>
                  </a:tcPr>
                </a:tc>
                <a:extLst>
                  <a:ext uri="{0D108BD9-81ED-4DB2-BD59-A6C34878D82A}">
                    <a16:rowId xmlns:a16="http://schemas.microsoft.com/office/drawing/2014/main" val="10009"/>
                  </a:ext>
                </a:extLst>
              </a:tr>
              <a:tr h="160362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000" noProof="0" dirty="0">
                        <a:solidFill>
                          <a:schemeClr val="bg1"/>
                        </a:solidFill>
                        <a:latin typeface="Arial" panose="020B0604020202020204"/>
                        <a:cs typeface="Arial" panose="020B0604020202020204"/>
                      </a:endParaRPr>
                    </a:p>
                  </a:txBody>
                  <a:tcPr marL="71080" marR="71080" marT="35540" marB="3554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Table 12"/>
          <p:cNvGraphicFramePr>
            <a:graphicFrameLocks noGrp="1"/>
          </p:cNvGraphicFramePr>
          <p:nvPr userDrawn="1"/>
        </p:nvGraphicFramePr>
        <p:xfrm>
          <a:off x="29619709" y="0"/>
          <a:ext cx="5621803" cy="16467402"/>
        </p:xfrm>
        <a:graphic>
          <a:graphicData uri="http://schemas.openxmlformats.org/drawingml/2006/table">
            <a:tbl>
              <a:tblPr firstRow="1" bandRow="1">
                <a:tableStyleId>{5C22544A-7EE6-4342-B048-85BDC9FD1C3A}</a:tableStyleId>
              </a:tblPr>
              <a:tblGrid>
                <a:gridCol w="2095685">
                  <a:extLst>
                    <a:ext uri="{9D8B030D-6E8A-4147-A177-3AD203B41FA5}">
                      <a16:colId xmlns:a16="http://schemas.microsoft.com/office/drawing/2014/main" val="20000"/>
                    </a:ext>
                  </a:extLst>
                </a:gridCol>
                <a:gridCol w="681713">
                  <a:extLst>
                    <a:ext uri="{9D8B030D-6E8A-4147-A177-3AD203B41FA5}">
                      <a16:colId xmlns:a16="http://schemas.microsoft.com/office/drawing/2014/main" val="20001"/>
                    </a:ext>
                  </a:extLst>
                </a:gridCol>
                <a:gridCol w="2844405">
                  <a:extLst>
                    <a:ext uri="{9D8B030D-6E8A-4147-A177-3AD203B41FA5}">
                      <a16:colId xmlns:a16="http://schemas.microsoft.com/office/drawing/2014/main" val="20002"/>
                    </a:ext>
                  </a:extLst>
                </a:gridCol>
              </a:tblGrid>
              <a:tr h="646893">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700" b="1" spc="0" dirty="0">
                          <a:solidFill>
                            <a:srgbClr val="FF0000"/>
                          </a:solidFill>
                          <a:latin typeface="Trebuchet MS" panose="020B0603020202020204" pitchFamily="34" charset="0"/>
                        </a:rPr>
                        <a:t>(THIS SIDEBAR WILL NOT PRINT)</a:t>
                      </a:r>
                      <a:endParaRPr lang="en-US" sz="2100" b="1" spc="600" dirty="0">
                        <a:solidFill>
                          <a:schemeClr val="bg1"/>
                        </a:solidFill>
                        <a:latin typeface="Trebuchet MS" panose="020B0603020202020204" pitchFamily="34" charset="0"/>
                      </a:endParaRPr>
                    </a:p>
                  </a:txBody>
                  <a:tcPr marL="95264" marR="95264" marT="47632" marB="47632">
                    <a:solidFill>
                      <a:srgbClr val="FFC000"/>
                    </a:solidFill>
                  </a:tcPr>
                </a:tc>
                <a:tc hMerge="1">
                  <a:txBody>
                    <a:bodyPr/>
                    <a:lstStyle/>
                    <a:p>
                      <a:endParaRPr lang="en-US"/>
                    </a:p>
                  </a:txBody>
                  <a:tcPr/>
                </a:tc>
                <a:tc hMerge="1">
                  <a:txBody>
                    <a:bodyPr/>
                    <a:lstStyle/>
                    <a:p>
                      <a:endParaRPr lang="en-US"/>
                    </a:p>
                  </a:txBody>
                  <a:tcPr marL="95264" marR="95264" marT="47632" marB="47632">
                    <a:solidFill>
                      <a:srgbClr val="FFC000"/>
                    </a:solidFill>
                  </a:tcPr>
                </a:tc>
                <a:extLst>
                  <a:ext uri="{0D108BD9-81ED-4DB2-BD59-A6C34878D82A}">
                    <a16:rowId xmlns:a16="http://schemas.microsoft.com/office/drawing/2014/main" val="10000"/>
                  </a:ext>
                </a:extLst>
              </a:tr>
              <a:tr h="2580081">
                <a:tc gridSpan="3">
                  <a:txBody>
                    <a:bodyPr/>
                    <a:lstStyle/>
                    <a:p>
                      <a:pPr algn="l"/>
                      <a:r>
                        <a:rPr lang="en-US" sz="15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300" dirty="0">
                          <a:solidFill>
                            <a:srgbClr val="FFC000"/>
                          </a:solidFill>
                          <a:hlinkClick r:id="rId7"/>
                        </a:rPr>
                        <a:t>https://www.posterpresentations.com/how-to-change-the-research-poster-template-colors.html</a:t>
                      </a:r>
                      <a:endParaRPr lang="en-US" sz="1300" dirty="0">
                        <a:solidFill>
                          <a:srgbClr val="FFC000"/>
                        </a:solidFill>
                      </a:endParaRP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3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95264" marR="95264" marT="47632" marB="47632">
                    <a:solidFill>
                      <a:schemeClr val="tx1"/>
                    </a:solidFill>
                  </a:tcPr>
                </a:tc>
                <a:tc hMerge="1">
                  <a:txBody>
                    <a:bodyPr/>
                    <a:lstStyle/>
                    <a:p>
                      <a:endParaRPr lang="en-US"/>
                    </a:p>
                  </a:txBody>
                  <a:tcPr marL="182880" marT="137160">
                    <a:blipFill rotWithShape="1">
                      <a:blip r:embed="rId8"/>
                      <a:stretch>
                        <a:fillRect/>
                      </a:stretch>
                    </a:blipFill>
                  </a:tcPr>
                </a:tc>
                <a:tc hMerge="1">
                  <a:txBody>
                    <a:bodyPr/>
                    <a:lstStyle/>
                    <a:p>
                      <a:endParaRPr lang="en-US"/>
                    </a:p>
                  </a:txBody>
                  <a:tcPr marL="95264" marR="95264" marT="47632" marB="47632">
                    <a:solidFill>
                      <a:schemeClr val="tx1"/>
                    </a:solidFill>
                  </a:tcPr>
                </a:tc>
                <a:extLst>
                  <a:ext uri="{0D108BD9-81ED-4DB2-BD59-A6C34878D82A}">
                    <a16:rowId xmlns:a16="http://schemas.microsoft.com/office/drawing/2014/main" val="10001"/>
                  </a:ext>
                </a:extLst>
              </a:tr>
              <a:tr h="1352261">
                <a:tc gridSpan="3">
                  <a:txBody>
                    <a:bodyPr/>
                    <a:lstStyle/>
                    <a:p>
                      <a:r>
                        <a:rPr lang="en-US" sz="1500" b="1" dirty="0">
                          <a:solidFill>
                            <a:srgbClr val="FFC000"/>
                          </a:solidFill>
                          <a:latin typeface="Arial" panose="020B0604020202020204" pitchFamily="34" charset="0"/>
                          <a:cs typeface="Arial" panose="020B0604020202020204" pitchFamily="34" charset="0"/>
                        </a:rPr>
                        <a:t>How to change the column layout configuration</a:t>
                      </a:r>
                    </a:p>
                    <a:p>
                      <a:r>
                        <a:rPr lang="en-US" sz="13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550" rtl="0" eaLnBrk="1" fontAlgn="auto" latinLnBrk="0" hangingPunct="1">
                        <a:lnSpc>
                          <a:spcPct val="100000"/>
                        </a:lnSpc>
                        <a:spcBef>
                          <a:spcPts val="0"/>
                        </a:spcBef>
                        <a:spcAft>
                          <a:spcPts val="0"/>
                        </a:spcAft>
                        <a:buClrTx/>
                        <a:buSzTx/>
                        <a:buFontTx/>
                        <a:buNone/>
                        <a:defRPr/>
                      </a:pPr>
                      <a:r>
                        <a:rPr lang="en-US" sz="1300" dirty="0">
                          <a:solidFill>
                            <a:srgbClr val="D9D9D9"/>
                          </a:solidFill>
                          <a:latin typeface="Arial" panose="020B0604020202020204" pitchFamily="34" charset="0"/>
                          <a:cs typeface="Arial" panose="020B0604020202020204" pitchFamily="34" charset="0"/>
                        </a:rPr>
                        <a:t>You can see a tutorial here: </a:t>
                      </a:r>
                      <a:r>
                        <a:rPr lang="en-US" sz="1300" u="sng" dirty="0">
                          <a:solidFill>
                            <a:srgbClr val="FFC000"/>
                          </a:solidFill>
                          <a:latin typeface="Arial" panose="020B0604020202020204" pitchFamily="34" charset="0"/>
                          <a:cs typeface="Arial" panose="020B0604020202020204" pitchFamily="34" charset="0"/>
                        </a:rPr>
                        <a:t>https://</a:t>
                      </a:r>
                      <a:r>
                        <a:rPr lang="en-US" sz="1300" u="sng" dirty="0" err="1">
                          <a:solidFill>
                            <a:srgbClr val="FFC000"/>
                          </a:solidFill>
                          <a:latin typeface="Arial" panose="020B0604020202020204" pitchFamily="34" charset="0"/>
                          <a:cs typeface="Arial" panose="020B0604020202020204" pitchFamily="34" charset="0"/>
                        </a:rPr>
                        <a:t>www.posterpresentations.com</a:t>
                      </a:r>
                      <a:r>
                        <a:rPr lang="en-US" sz="1300" u="sng" dirty="0">
                          <a:solidFill>
                            <a:srgbClr val="FFC000"/>
                          </a:solidFill>
                          <a:latin typeface="Arial" panose="020B0604020202020204" pitchFamily="34" charset="0"/>
                          <a:cs typeface="Arial" panose="020B0604020202020204" pitchFamily="34" charset="0"/>
                        </a:rPr>
                        <a:t>/how-to-change-the-column-</a:t>
                      </a:r>
                      <a:r>
                        <a:rPr lang="en-US" sz="13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90527" marR="95264" marT="142896" marB="47632">
                    <a:solidFill>
                      <a:schemeClr val="tx1"/>
                    </a:solidFill>
                  </a:tcPr>
                </a:tc>
                <a:tc hMerge="1">
                  <a:txBody>
                    <a:bodyPr/>
                    <a:lstStyle/>
                    <a:p>
                      <a:endParaRPr lang="en-US"/>
                    </a:p>
                  </a:txBody>
                  <a:tcPr marL="182880" marT="137160">
                    <a:blipFill rotWithShape="1">
                      <a:blip r:embed="rId9"/>
                      <a:stretch>
                        <a:fillRect/>
                      </a:stretch>
                    </a:blipFill>
                  </a:tcPr>
                </a:tc>
                <a:tc hMerge="1">
                  <a:txBody>
                    <a:bodyPr/>
                    <a:lstStyle/>
                    <a:p>
                      <a:endParaRPr lang="en-US"/>
                    </a:p>
                  </a:txBody>
                  <a:tcPr marL="190527" marR="95264" marT="142896" marB="47632">
                    <a:solidFill>
                      <a:schemeClr val="tx1"/>
                    </a:solidFill>
                  </a:tcPr>
                </a:tc>
                <a:extLst>
                  <a:ext uri="{0D108BD9-81ED-4DB2-BD59-A6C34878D82A}">
                    <a16:rowId xmlns:a16="http://schemas.microsoft.com/office/drawing/2014/main" val="10002"/>
                  </a:ext>
                </a:extLst>
              </a:tr>
              <a:tr h="1587221">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marL="95264" marR="95264" marT="47632" marB="47632">
                    <a:solidFill>
                      <a:srgbClr val="010101"/>
                    </a:solidFill>
                  </a:tcPr>
                </a:tc>
                <a:tc row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pitchFamily="34" charset="0"/>
                          <a:cs typeface="Arial" panose="020B0604020202020204" pitchFamily="34" charset="0"/>
                        </a:rPr>
                        <a:t>The Quick Start</a:t>
                      </a:r>
                      <a:r>
                        <a:rPr lang="en-US" sz="1300" baseline="0" noProof="0" dirty="0">
                          <a:solidFill>
                            <a:srgbClr val="D9D9D9"/>
                          </a:solidFill>
                          <a:latin typeface="Arial" panose="020B0604020202020204" pitchFamily="34" charset="0"/>
                          <a:cs typeface="Arial" panose="020B0604020202020204" pitchFamily="34" charset="0"/>
                        </a:rPr>
                        <a:t> Guides</a:t>
                      </a:r>
                      <a:r>
                        <a:rPr lang="en-US" sz="1300" noProof="0" dirty="0">
                          <a:solidFill>
                            <a:srgbClr val="D9D9D9"/>
                          </a:solidFill>
                          <a:latin typeface="Arial" panose="020B0604020202020204" pitchFamily="34" charset="0"/>
                          <a:cs typeface="Arial" panose="020B0604020202020204" pitchFamily="34" charset="0"/>
                        </a:rPr>
                        <a:t> </a:t>
                      </a:r>
                      <a:r>
                        <a:rPr lang="en-US" sz="1300" u="sng" noProof="0" dirty="0">
                          <a:solidFill>
                            <a:srgbClr val="D9D9D9"/>
                          </a:solidFill>
                          <a:latin typeface="Arial" panose="020B0604020202020204" pitchFamily="34" charset="0"/>
                          <a:cs typeface="Arial" panose="020B0604020202020204" pitchFamily="34" charset="0"/>
                        </a:rPr>
                        <a:t>are outside the template’s printable area</a:t>
                      </a:r>
                      <a:r>
                        <a:rPr lang="en-US" sz="1300" noProof="0" dirty="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extLst>
                  <a:ext uri="{0D108BD9-81ED-4DB2-BD59-A6C34878D82A}">
                    <a16:rowId xmlns:a16="http://schemas.microsoft.com/office/drawing/2014/main" val="10003"/>
                  </a:ext>
                </a:extLst>
              </a:tr>
              <a:tr h="1653209">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300" baseline="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1300" baseline="0" noProof="0" dirty="0">
                          <a:solidFill>
                            <a:srgbClr val="D9D9D9"/>
                          </a:solidFill>
                          <a:latin typeface="Arial" panose="020B0604020202020204" pitchFamily="34" charset="0"/>
                          <a:cs typeface="Arial" panose="020B0604020202020204" pitchFamily="34" charset="0"/>
                        </a:rPr>
                        <a:t>To hide the guides click on the </a:t>
                      </a:r>
                      <a:r>
                        <a:rPr lang="en-US" sz="1300" b="1" baseline="0" noProof="0" dirty="0">
                          <a:solidFill>
                            <a:srgbClr val="D9D9D9"/>
                          </a:solidFill>
                          <a:latin typeface="Arial" panose="020B0604020202020204" pitchFamily="34" charset="0"/>
                          <a:cs typeface="Arial" panose="020B0604020202020204" pitchFamily="34" charset="0"/>
                        </a:rPr>
                        <a:t>Home</a:t>
                      </a:r>
                      <a:r>
                        <a:rPr lang="en-US" sz="13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dirty="0">
                          <a:solidFill>
                            <a:srgbClr val="D9D9D9"/>
                          </a:solidFill>
                          <a:latin typeface="Arial" panose="020B0604020202020204" pitchFamily="34" charset="0"/>
                          <a:cs typeface="Arial" panose="020B0604020202020204" pitchFamily="34" charset="0"/>
                        </a:rPr>
                        <a:t>Without Guides </a:t>
                      </a:r>
                      <a:r>
                        <a:rPr lang="en-US" sz="1300" b="0" baseline="0" noProof="0" dirty="0">
                          <a:solidFill>
                            <a:srgbClr val="D9D9D9"/>
                          </a:solidFill>
                          <a:latin typeface="Arial" panose="020B0604020202020204" pitchFamily="34" charset="0"/>
                          <a:cs typeface="Arial" panose="020B0604020202020204" pitchFamily="34" charset="0"/>
                        </a:rPr>
                        <a:t>layout</a:t>
                      </a:r>
                      <a:r>
                        <a:rPr lang="en-US" sz="1300" baseline="0" noProof="0" dirty="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1670206">
                <a:tc gridSpan="2">
                  <a:txBody>
                    <a:bodyPr/>
                    <a:lstStyle/>
                    <a:p>
                      <a:r>
                        <a:rPr lang="en-US" sz="1500" b="1" dirty="0">
                          <a:solidFill>
                            <a:srgbClr val="FFC000"/>
                          </a:solidFill>
                          <a:latin typeface="Arial" panose="020B0604020202020204" pitchFamily="34" charset="0"/>
                          <a:cs typeface="Arial" panose="020B0604020202020204" pitchFamily="34" charset="0"/>
                        </a:rPr>
                        <a:t>How to</a:t>
                      </a:r>
                      <a:r>
                        <a:rPr lang="en-US" sz="15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500" b="1" dirty="0">
                        <a:solidFill>
                          <a:srgbClr val="FFC000"/>
                        </a:solidFill>
                        <a:latin typeface="Arial" panose="020B0604020202020204" pitchFamily="34" charset="0"/>
                        <a:cs typeface="Arial" panose="020B0604020202020204" pitchFamily="34" charset="0"/>
                      </a:endParaRPr>
                    </a:p>
                    <a:p>
                      <a:r>
                        <a:rPr lang="en-US" sz="1300" dirty="0">
                          <a:solidFill>
                            <a:srgbClr val="D9D9D9"/>
                          </a:solidFill>
                          <a:latin typeface="Arial" panose="020B0604020202020204" pitchFamily="34" charset="0"/>
                          <a:cs typeface="Arial" panose="020B0604020202020204" pitchFamily="34" charset="0"/>
                        </a:rPr>
                        <a:t>You can preview your poster at any time by pressing the </a:t>
                      </a:r>
                      <a:r>
                        <a:rPr lang="en-US" sz="1300" dirty="0">
                          <a:solidFill>
                            <a:srgbClr val="FFC000"/>
                          </a:solidFill>
                          <a:latin typeface="Arial" panose="020B0604020202020204" pitchFamily="34" charset="0"/>
                          <a:cs typeface="Arial" panose="020B0604020202020204" pitchFamily="34" charset="0"/>
                        </a:rPr>
                        <a:t>F5 key</a:t>
                      </a:r>
                      <a:r>
                        <a:rPr lang="en-US" sz="13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300" dirty="0">
                          <a:solidFill>
                            <a:srgbClr val="FFC000"/>
                          </a:solidFill>
                          <a:latin typeface="Arial" panose="020B0604020202020204" pitchFamily="34" charset="0"/>
                          <a:cs typeface="Arial" panose="020B0604020202020204" pitchFamily="34" charset="0"/>
                        </a:rPr>
                        <a:t>ESC key </a:t>
                      </a:r>
                      <a:r>
                        <a:rPr lang="en-US" sz="1300" dirty="0">
                          <a:solidFill>
                            <a:srgbClr val="D9D9D9"/>
                          </a:solidFill>
                          <a:latin typeface="Arial" panose="020B0604020202020204" pitchFamily="34" charset="0"/>
                          <a:cs typeface="Arial" panose="020B0604020202020204" pitchFamily="34" charset="0"/>
                        </a:rPr>
                        <a:t>to exit Preview.</a:t>
                      </a:r>
                    </a:p>
                  </a:txBody>
                  <a:tcPr marL="95264" marR="95264" marT="47632" marB="47632">
                    <a:solidFill>
                      <a:srgbClr val="010101"/>
                    </a:solidFill>
                  </a:tcPr>
                </a:tc>
                <a:tc hMerge="1">
                  <a:txBody>
                    <a:bodyPr/>
                    <a:lstStyle/>
                    <a:p>
                      <a:endParaRPr lang="en-US"/>
                    </a:p>
                  </a:txBody>
                  <a:tcPr marL="106881" marR="53440" marT="70140" marB="23380" anchor="ctr">
                    <a:solidFill>
                      <a:schemeClr val="tx1">
                        <a:lumMod val="95000"/>
                        <a:lumOff val="5000"/>
                      </a:schemeClr>
                    </a:solidFill>
                  </a:tcPr>
                </a:tc>
                <a:tc>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extLst>
                  <a:ext uri="{0D108BD9-81ED-4DB2-BD59-A6C34878D82A}">
                    <a16:rowId xmlns:a16="http://schemas.microsoft.com/office/drawing/2014/main" val="10005"/>
                  </a:ext>
                </a:extLst>
              </a:tr>
              <a:tr h="880793">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500" b="1" noProof="0" dirty="0">
                          <a:solidFill>
                            <a:srgbClr val="FFC000"/>
                          </a:solidFill>
                          <a:latin typeface="Arial" panose="020B0604020202020204"/>
                          <a:cs typeface="Arial" panose="020B0604020202020204"/>
                        </a:rPr>
                        <a:t>How to present your poster</a:t>
                      </a:r>
                    </a:p>
                    <a:p>
                      <a:pPr marL="0" marR="0" lvl="0" indent="0" algn="l" defTabSz="114300" rtl="0" eaLnBrk="1" fontAlgn="auto" latinLnBrk="0" hangingPunct="1">
                        <a:lnSpc>
                          <a:spcPct val="100000"/>
                        </a:lnSpc>
                        <a:spcBef>
                          <a:spcPts val="0"/>
                        </a:spcBef>
                        <a:spcAft>
                          <a:spcPts val="0"/>
                        </a:spcAft>
                        <a:buClrTx/>
                        <a:buSzTx/>
                        <a:buFontTx/>
                        <a:buNone/>
                        <a:defRPr/>
                      </a:pPr>
                      <a:r>
                        <a:rPr lang="en-US" sz="1300" noProof="0" dirty="0">
                          <a:solidFill>
                            <a:srgbClr val="D9D9D9"/>
                          </a:solidFill>
                          <a:latin typeface="Arial" panose="020B0604020202020204"/>
                          <a:cs typeface="Arial" panose="020B0604020202020204"/>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defRPr/>
                      </a:pPr>
                      <a:endParaRPr lang="en-US" sz="1300" noProof="0" dirty="0">
                        <a:solidFill>
                          <a:srgbClr val="D9D9D9"/>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val="10006"/>
                  </a:ext>
                </a:extLst>
              </a:tr>
              <a:tr h="4224920">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D9D9D9"/>
                          </a:solidFill>
                          <a:latin typeface="Arial" panose="020B0604020202020204"/>
                          <a:cs typeface="Arial" panose="020B0604020202020204"/>
                        </a:rPr>
                        <a:t>Submit your poster and add it to the Research Poster Virtual Library.</a:t>
                      </a:r>
                      <a:br>
                        <a:rPr lang="en-US" sz="1400" b="1" noProof="0" dirty="0">
                          <a:solidFill>
                            <a:srgbClr val="D9D9D9"/>
                          </a:solidFill>
                          <a:latin typeface="Arial" panose="020B0604020202020204"/>
                          <a:cs typeface="Arial" panose="020B0604020202020204"/>
                        </a:rPr>
                      </a:br>
                      <a:br>
                        <a:rPr lang="en-US" sz="1400" b="1" noProof="0" dirty="0">
                          <a:solidFill>
                            <a:srgbClr val="D9D9D9"/>
                          </a:solidFill>
                          <a:latin typeface="Arial" panose="020B0604020202020204"/>
                          <a:cs typeface="Arial" panose="020B0604020202020204"/>
                        </a:rPr>
                      </a:br>
                      <a:r>
                        <a:rPr lang="en-US" sz="1400" b="1" noProof="0" dirty="0">
                          <a:solidFill>
                            <a:schemeClr val="accent4"/>
                          </a:solidFill>
                          <a:latin typeface="Arial" panose="020B0604020202020204"/>
                          <a:cs typeface="Arial" panose="020B0604020202020204"/>
                        </a:rPr>
                        <a:t>Continuous</a:t>
                      </a:r>
                      <a:r>
                        <a:rPr lang="en-US" sz="1400" b="1" noProof="0" dirty="0">
                          <a:solidFill>
                            <a:srgbClr val="D9D9D9"/>
                          </a:solidFill>
                          <a:latin typeface="Arial" panose="020B0604020202020204"/>
                          <a:cs typeface="Arial" panose="020B0604020202020204"/>
                        </a:rPr>
                        <a:t> </a:t>
                      </a:r>
                      <a:r>
                        <a:rPr lang="en-US" sz="1400" b="1" noProof="0" dirty="0">
                          <a:solidFill>
                            <a:srgbClr val="FFC000"/>
                          </a:solidFill>
                          <a:latin typeface="Arial" panose="020B0604020202020204"/>
                          <a:cs typeface="Arial" panose="020B0604020202020204"/>
                        </a:rPr>
                        <a:t>global reach</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400" b="1" noProof="0" dirty="0">
                          <a:solidFill>
                            <a:srgbClr val="FFC000"/>
                          </a:solidFill>
                          <a:latin typeface="Arial" panose="020B0604020202020204"/>
                          <a:cs typeface="Arial" panose="020B0604020202020204"/>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defRPr/>
                      </a:pPr>
                      <a:r>
                        <a:rPr lang="en-US" sz="1400" b="0" noProof="0" dirty="0">
                          <a:solidFill>
                            <a:srgbClr val="D9D9D9"/>
                          </a:solidFill>
                          <a:latin typeface="Arial" panose="020B0604020202020204"/>
                          <a:cs typeface="Arial" panose="020B0604020202020204"/>
                        </a:rPr>
                        <a:t>Published posters can easily be presented at virtual conferences. Perfect solution for organizers of meetings and conferences.</a:t>
                      </a:r>
                      <a:br>
                        <a:rPr lang="en-US" sz="1400" b="1" noProof="0" dirty="0">
                          <a:solidFill>
                            <a:srgbClr val="D9D9D9"/>
                          </a:solidFill>
                          <a:latin typeface="Arial" panose="020B0604020202020204"/>
                          <a:cs typeface="Arial" panose="020B0604020202020204"/>
                        </a:rPr>
                      </a:br>
                      <a:endParaRPr lang="en-US" sz="1400" b="1"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hlinkClick r:id="rId11"/>
                        </a:rPr>
                        <a:t>https://www.PosterPresentations.com/</a:t>
                      </a:r>
                      <a:r>
                        <a:rPr lang="en-US" sz="1600" b="1" u="sng" noProof="0" dirty="0">
                          <a:solidFill>
                            <a:srgbClr val="FFC000"/>
                          </a:solidFill>
                          <a:latin typeface="Arial" panose="020B0604020202020204"/>
                          <a:cs typeface="Arial" panose="020B0604020202020204"/>
                          <a:hlinkClick r:id="rId11"/>
                        </a:rPr>
                        <a:t>research</a:t>
                      </a:r>
                      <a:endParaRPr lang="en-US" sz="1600" b="1" u="sng"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1400" b="1" noProof="0" dirty="0">
                        <a:solidFill>
                          <a:srgbClr val="D9D9D9"/>
                        </a:solidFill>
                        <a:latin typeface="Arial" panose="020B0604020202020204"/>
                        <a:cs typeface="Arial" panose="020B0604020202020204"/>
                      </a:endParaRPr>
                    </a:p>
                  </a:txBody>
                  <a:tcPr marL="95264" marR="95264" marT="47632" marB="47632">
                    <a:solidFill>
                      <a:srgbClr val="003366"/>
                    </a:solidFill>
                  </a:tcPr>
                </a:tc>
                <a:tc hMerge="1">
                  <a:txBody>
                    <a:bodyPr/>
                    <a:lstStyle/>
                    <a:p>
                      <a:endParaRPr lang="en-US"/>
                    </a:p>
                  </a:txBody>
                  <a:tcPr/>
                </a:tc>
                <a:tc hMerge="1">
                  <a:txBody>
                    <a:bodyPr/>
                    <a:lstStyle/>
                    <a:p>
                      <a:endParaRPr lang="en-US"/>
                    </a:p>
                  </a:txBody>
                  <a:tcPr marL="95264" marR="95264" marT="47632" marB="47632">
                    <a:solidFill>
                      <a:schemeClr val="accent5">
                        <a:lumMod val="50000"/>
                      </a:schemeClr>
                    </a:solidFill>
                  </a:tcPr>
                </a:tc>
                <a:extLst>
                  <a:ext uri="{0D108BD9-81ED-4DB2-BD59-A6C34878D82A}">
                    <a16:rowId xmlns:a16="http://schemas.microsoft.com/office/drawing/2014/main" val="10007"/>
                  </a:ext>
                </a:extLst>
              </a:tr>
              <a:tr h="770816">
                <a:tc gridSpan="3">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560893">
                <a:tc>
                  <a:txBody>
                    <a:bodyPr/>
                    <a:lstStyle/>
                    <a:p>
                      <a:pPr>
                        <a:lnSpc>
                          <a:spcPct val="100000"/>
                        </a:lnSpc>
                      </a:pPr>
                      <a:r>
                        <a:rPr lang="en-US" sz="1000" dirty="0">
                          <a:solidFill>
                            <a:schemeClr val="bg1">
                              <a:lumMod val="85000"/>
                            </a:schemeClr>
                          </a:solidFill>
                          <a:latin typeface="Arial" panose="020B0604020202020204"/>
                          <a:cs typeface="Arial" panose="020B0604020202020204"/>
                        </a:rPr>
                        <a:t>© 2020</a:t>
                      </a:r>
                      <a:r>
                        <a:rPr lang="en-US" sz="1000" baseline="0" dirty="0">
                          <a:solidFill>
                            <a:schemeClr val="bg1">
                              <a:lumMod val="85000"/>
                            </a:schemeClr>
                          </a:solidFill>
                          <a:latin typeface="Arial" panose="020B0604020202020204"/>
                          <a:cs typeface="Arial" panose="020B0604020202020204"/>
                        </a:rPr>
                        <a:t> </a:t>
                      </a:r>
                      <a:r>
                        <a:rPr lang="en-US" sz="1000" dirty="0" err="1">
                          <a:solidFill>
                            <a:schemeClr val="bg1">
                              <a:lumMod val="85000"/>
                            </a:schemeClr>
                          </a:solidFill>
                          <a:latin typeface="Arial" panose="020B0604020202020204"/>
                          <a:cs typeface="Arial" panose="020B0604020202020204"/>
                        </a:rPr>
                        <a:t>PosterPresentations.com</a:t>
                      </a:r>
                      <a:br>
                        <a:rPr lang="en-US" sz="1000" dirty="0">
                          <a:solidFill>
                            <a:schemeClr val="bg1">
                              <a:lumMod val="85000"/>
                            </a:schemeClr>
                          </a:solidFill>
                          <a:latin typeface="Arial" panose="020B0604020202020204"/>
                          <a:cs typeface="Arial" panose="020B0604020202020204"/>
                        </a:rPr>
                      </a:br>
                      <a:r>
                        <a:rPr lang="en-US" sz="1000" dirty="0">
                          <a:solidFill>
                            <a:schemeClr val="bg1">
                              <a:lumMod val="85000"/>
                            </a:schemeClr>
                          </a:solidFill>
                          <a:latin typeface="Arial" panose="020B0604020202020204"/>
                          <a:cs typeface="Arial" panose="020B0604020202020204"/>
                        </a:rPr>
                        <a:t>2117 Fourth Street ,</a:t>
                      </a:r>
                      <a:r>
                        <a:rPr lang="en-US" sz="1000" baseline="0" dirty="0">
                          <a:solidFill>
                            <a:schemeClr val="bg1">
                              <a:lumMod val="85000"/>
                            </a:schemeClr>
                          </a:solidFill>
                          <a:latin typeface="Arial" panose="020B0604020202020204"/>
                          <a:cs typeface="Arial" panose="020B0604020202020204"/>
                        </a:rPr>
                        <a:t> STE C        </a:t>
                      </a:r>
                    </a:p>
                    <a:p>
                      <a:pPr>
                        <a:lnSpc>
                          <a:spcPct val="100000"/>
                        </a:lnSpc>
                      </a:pPr>
                      <a:r>
                        <a:rPr lang="en-US" sz="1000" baseline="0" dirty="0">
                          <a:solidFill>
                            <a:schemeClr val="bg1">
                              <a:lumMod val="85000"/>
                            </a:schemeClr>
                          </a:solidFill>
                          <a:latin typeface="Arial" panose="020B0604020202020204"/>
                          <a:cs typeface="Arial" panose="020B0604020202020204"/>
                        </a:rPr>
                        <a:t>Berkeley CA 94710 USA</a:t>
                      </a:r>
                      <a:endParaRPr lang="en-US" sz="1000" dirty="0">
                        <a:solidFill>
                          <a:schemeClr val="bg1">
                            <a:lumMod val="85000"/>
                          </a:schemeClr>
                        </a:solidFill>
                        <a:latin typeface="Arial" panose="020B0604020202020204"/>
                        <a:cs typeface="Arial" panose="020B0604020202020204"/>
                      </a:endParaRPr>
                    </a:p>
                  </a:txBody>
                  <a:tcPr marL="106881" marR="53440" marT="70140" marB="23380">
                    <a:solidFill>
                      <a:srgbClr val="010101"/>
                    </a:solidFill>
                  </a:tcPr>
                </a:tc>
                <a:tc gridSpan="2">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300" b="1" dirty="0">
                          <a:solidFill>
                            <a:srgbClr val="D0D0D0"/>
                          </a:solidFill>
                          <a:latin typeface="Arial" panose="020B0604020202020204"/>
                          <a:cs typeface="Arial" panose="020B0604020202020204"/>
                        </a:rPr>
                        <a:t>For poster-making tutorials</a:t>
                      </a:r>
                      <a:r>
                        <a:rPr lang="en-US" sz="1300" b="1" baseline="0" dirty="0">
                          <a:solidFill>
                            <a:srgbClr val="D0D0D0"/>
                          </a:solidFill>
                          <a:latin typeface="Arial" panose="020B0604020202020204"/>
                          <a:cs typeface="Arial" panose="020B0604020202020204"/>
                        </a:rPr>
                        <a:t> visit:</a:t>
                      </a:r>
                    </a:p>
                    <a:p>
                      <a:pPr marL="0" marR="0" indent="0" algn="l" defTabSz="4389120" rtl="0" eaLnBrk="1" fontAlgn="auto" latinLnBrk="0" hangingPunct="1">
                        <a:lnSpc>
                          <a:spcPct val="100000"/>
                        </a:lnSpc>
                        <a:spcBef>
                          <a:spcPts val="0"/>
                        </a:spcBef>
                        <a:spcAft>
                          <a:spcPts val="0"/>
                        </a:spcAft>
                        <a:buClrTx/>
                        <a:buSzTx/>
                        <a:buFontTx/>
                        <a:buNone/>
                        <a:defRPr/>
                      </a:pPr>
                      <a:r>
                        <a:rPr lang="en-US" sz="900" b="1" dirty="0">
                          <a:solidFill>
                            <a:srgbClr val="FFC000"/>
                          </a:solidFill>
                          <a:latin typeface="Arial" panose="020B0604020202020204"/>
                          <a:cs typeface="Arial" panose="020B0604020202020204"/>
                        </a:rPr>
                        <a:t>https://</a:t>
                      </a:r>
                      <a:r>
                        <a:rPr lang="en-US" sz="900" b="1" dirty="0" err="1">
                          <a:solidFill>
                            <a:srgbClr val="FFC000"/>
                          </a:solidFill>
                          <a:latin typeface="Arial" panose="020B0604020202020204"/>
                          <a:cs typeface="Arial" panose="020B0604020202020204"/>
                        </a:rPr>
                        <a:t>www.posterpresentations.com</a:t>
                      </a:r>
                      <a:r>
                        <a:rPr lang="en-US" sz="900" b="1" dirty="0">
                          <a:solidFill>
                            <a:srgbClr val="FFC000"/>
                          </a:solidFill>
                          <a:latin typeface="Arial" panose="020B0604020202020204"/>
                          <a:cs typeface="Arial" panose="020B0604020202020204"/>
                        </a:rPr>
                        <a:t>/</a:t>
                      </a:r>
                      <a:r>
                        <a:rPr lang="en-US" sz="900" b="1" dirty="0" err="1">
                          <a:solidFill>
                            <a:srgbClr val="FFC000"/>
                          </a:solidFill>
                          <a:latin typeface="Arial" panose="020B0604020202020204"/>
                          <a:cs typeface="Arial" panose="020B0604020202020204"/>
                        </a:rPr>
                        <a:t>helpdesk.html</a:t>
                      </a:r>
                      <a:endParaRPr lang="en-US" sz="900" dirty="0">
                        <a:solidFill>
                          <a:schemeClr val="bg1">
                            <a:lumMod val="85000"/>
                          </a:schemeClr>
                        </a:solidFill>
                        <a:latin typeface="Arial" panose="020B0604020202020204"/>
                        <a:cs typeface="Arial" panose="020B0604020202020204"/>
                      </a:endParaRPr>
                    </a:p>
                  </a:txBody>
                  <a:tcPr marL="95264" marR="95264" marT="47632" marB="47632">
                    <a:solidFill>
                      <a:srgbClr val="010101"/>
                    </a:solidFill>
                  </a:tcPr>
                </a:tc>
                <a:tc hMerge="1">
                  <a:txBody>
                    <a:bodyPr/>
                    <a:lstStyle/>
                    <a:p>
                      <a:endParaRPr lang="en-US"/>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3" r:id="rId1"/>
  </p:sldLayoutIdLst>
  <p:txStyles>
    <p:titleStyle>
      <a:lvl1pPr algn="ctr" defTabSz="2675255" rtl="0" eaLnBrk="1" latinLnBrk="0" hangingPunct="1">
        <a:spcBef>
          <a:spcPct val="0"/>
        </a:spcBef>
        <a:buNone/>
        <a:defRPr sz="5335" kern="1200">
          <a:solidFill>
            <a:schemeClr val="bg1"/>
          </a:solidFill>
          <a:latin typeface="Trebuchet MS" panose="020B0603020202020204" pitchFamily="34" charset="0"/>
          <a:ea typeface="+mj-ea"/>
          <a:cs typeface="+mj-cs"/>
        </a:defRPr>
      </a:lvl1pPr>
    </p:titleStyle>
    <p:bodyStyle>
      <a:lvl1pPr marL="1003300" indent="-1003300" algn="l" defTabSz="2675255" rtl="0" eaLnBrk="1" latinLnBrk="0" hangingPunct="1">
        <a:spcBef>
          <a:spcPct val="20000"/>
        </a:spcBef>
        <a:buFont typeface="Arial" panose="020B0604020202020204" pitchFamily="34" charset="0"/>
        <a:buChar char="•"/>
        <a:defRPr sz="9385" kern="1200">
          <a:solidFill>
            <a:schemeClr val="tx1"/>
          </a:solidFill>
          <a:latin typeface="+mn-lt"/>
          <a:ea typeface="+mn-ea"/>
          <a:cs typeface="+mn-cs"/>
        </a:defRPr>
      </a:lvl1pPr>
      <a:lvl2pPr marL="2173605" indent="-836295" algn="l" defTabSz="2675255" rtl="0" eaLnBrk="1" latinLnBrk="0" hangingPunct="1">
        <a:spcBef>
          <a:spcPct val="20000"/>
        </a:spcBef>
        <a:buFont typeface="Arial" panose="020B0604020202020204" pitchFamily="34" charset="0"/>
        <a:buChar char="–"/>
        <a:defRPr sz="8215" kern="1200">
          <a:solidFill>
            <a:schemeClr val="tx1"/>
          </a:solidFill>
          <a:latin typeface="+mn-lt"/>
          <a:ea typeface="+mn-ea"/>
          <a:cs typeface="+mn-cs"/>
        </a:defRPr>
      </a:lvl2pPr>
      <a:lvl3pPr marL="3343910" indent="-668655" algn="l" defTabSz="2675255" rtl="0" eaLnBrk="1" latinLnBrk="0" hangingPunct="1">
        <a:spcBef>
          <a:spcPct val="20000"/>
        </a:spcBef>
        <a:buFont typeface="Arial" panose="020B0604020202020204" pitchFamily="34" charset="0"/>
        <a:buChar char="•"/>
        <a:defRPr sz="7040" kern="1200">
          <a:solidFill>
            <a:schemeClr val="tx1"/>
          </a:solidFill>
          <a:latin typeface="+mn-lt"/>
          <a:ea typeface="+mn-ea"/>
          <a:cs typeface="+mn-cs"/>
        </a:defRPr>
      </a:lvl3pPr>
      <a:lvl4pPr marL="468185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4pPr>
      <a:lvl5pPr marL="60191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5pPr>
      <a:lvl6pPr marL="735711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6pPr>
      <a:lvl7pPr marL="869442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7pPr>
      <a:lvl8pPr marL="100323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8pPr>
      <a:lvl9pPr marL="1136967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9pPr>
    </p:bodyStyle>
    <p:otherStyle>
      <a:defPPr>
        <a:defRPr lang="en-US"/>
      </a:defPPr>
      <a:lvl1pPr marL="0" algn="l" defTabSz="2675255" rtl="0" eaLnBrk="1" latinLnBrk="0" hangingPunct="1">
        <a:defRPr sz="5225" kern="1200">
          <a:solidFill>
            <a:schemeClr val="tx1"/>
          </a:solidFill>
          <a:latin typeface="+mn-lt"/>
          <a:ea typeface="+mn-ea"/>
          <a:cs typeface="+mn-cs"/>
        </a:defRPr>
      </a:lvl1pPr>
      <a:lvl2pPr marL="1337310" algn="l" defTabSz="2675255" rtl="0" eaLnBrk="1" latinLnBrk="0" hangingPunct="1">
        <a:defRPr sz="5225" kern="1200">
          <a:solidFill>
            <a:schemeClr val="tx1"/>
          </a:solidFill>
          <a:latin typeface="+mn-lt"/>
          <a:ea typeface="+mn-ea"/>
          <a:cs typeface="+mn-cs"/>
        </a:defRPr>
      </a:lvl2pPr>
      <a:lvl3pPr marL="2675255" algn="l" defTabSz="2675255" rtl="0" eaLnBrk="1" latinLnBrk="0" hangingPunct="1">
        <a:defRPr sz="5225" kern="1200">
          <a:solidFill>
            <a:schemeClr val="tx1"/>
          </a:solidFill>
          <a:latin typeface="+mn-lt"/>
          <a:ea typeface="+mn-ea"/>
          <a:cs typeface="+mn-cs"/>
        </a:defRPr>
      </a:lvl3pPr>
      <a:lvl4pPr marL="4012565" algn="l" defTabSz="2675255" rtl="0" eaLnBrk="1" latinLnBrk="0" hangingPunct="1">
        <a:defRPr sz="5225" kern="1200">
          <a:solidFill>
            <a:schemeClr val="tx1"/>
          </a:solidFill>
          <a:latin typeface="+mn-lt"/>
          <a:ea typeface="+mn-ea"/>
          <a:cs typeface="+mn-cs"/>
        </a:defRPr>
      </a:lvl4pPr>
      <a:lvl5pPr marL="5350510" algn="l" defTabSz="2675255" rtl="0" eaLnBrk="1" latinLnBrk="0" hangingPunct="1">
        <a:defRPr sz="5225" kern="1200">
          <a:solidFill>
            <a:schemeClr val="tx1"/>
          </a:solidFill>
          <a:latin typeface="+mn-lt"/>
          <a:ea typeface="+mn-ea"/>
          <a:cs typeface="+mn-cs"/>
        </a:defRPr>
      </a:lvl5pPr>
      <a:lvl6pPr marL="6687820" algn="l" defTabSz="2675255" rtl="0" eaLnBrk="1" latinLnBrk="0" hangingPunct="1">
        <a:defRPr sz="5225" kern="1200">
          <a:solidFill>
            <a:schemeClr val="tx1"/>
          </a:solidFill>
          <a:latin typeface="+mn-lt"/>
          <a:ea typeface="+mn-ea"/>
          <a:cs typeface="+mn-cs"/>
        </a:defRPr>
      </a:lvl6pPr>
      <a:lvl7pPr marL="8025765" algn="l" defTabSz="2675255" rtl="0" eaLnBrk="1" latinLnBrk="0" hangingPunct="1">
        <a:defRPr sz="5225" kern="1200">
          <a:solidFill>
            <a:schemeClr val="tx1"/>
          </a:solidFill>
          <a:latin typeface="+mn-lt"/>
          <a:ea typeface="+mn-ea"/>
          <a:cs typeface="+mn-cs"/>
        </a:defRPr>
      </a:lvl7pPr>
      <a:lvl8pPr marL="9363075" algn="l" defTabSz="2675255" rtl="0" eaLnBrk="1" latinLnBrk="0" hangingPunct="1">
        <a:defRPr sz="5225" kern="1200">
          <a:solidFill>
            <a:schemeClr val="tx1"/>
          </a:solidFill>
          <a:latin typeface="+mn-lt"/>
          <a:ea typeface="+mn-ea"/>
          <a:cs typeface="+mn-cs"/>
        </a:defRPr>
      </a:lvl8pPr>
      <a:lvl9pPr marL="10701020" algn="l" defTabSz="2675255" rtl="0" eaLnBrk="1" latinLnBrk="0" hangingPunct="1">
        <a:defRPr sz="52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0.bin"/><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notesSlide" Target="../notesSlides/notesSlide1.xml"/><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98" name="Text Placeholder 297"/>
          <p:cNvSpPr>
            <a:spLocks noGrp="1"/>
          </p:cNvSpPr>
          <p:nvPr>
            <p:ph type="body" sz="quarter" idx="10"/>
          </p:nvPr>
        </p:nvSpPr>
        <p:spPr>
          <a:xfrm>
            <a:off x="606195" y="3063162"/>
            <a:ext cx="6704542" cy="5545215"/>
          </a:xfrm>
        </p:spPr>
        <p:txBody>
          <a:bodyPr/>
          <a:lstStyle/>
          <a:p>
            <a:r>
              <a:rPr lang="en-US" sz="2000" dirty="0">
                <a:solidFill>
                  <a:schemeClr val="accent5">
                    <a:lumMod val="50000"/>
                  </a:schemeClr>
                </a:solidFill>
              </a:rPr>
              <a:t>In recent years, the global movement of people moving for educational and employment reasons has increased considerably. Finding the best country to go to for either of these reasons is a multimodal decision-making process based on many socio-economic criteria, such as the quality of life, safety, access to health care services, the cost of living, the pollution level, the purchasing power compared with your actual income and the education system available in each country. Most traditional methods of making these types of decisions are based largely on qualitative/subjective criteria in their weighting allocations and can produce unequal or bias-based results.</a:t>
            </a:r>
          </a:p>
          <a:p>
            <a:endParaRPr lang="en-US" sz="2000" dirty="0">
              <a:solidFill>
                <a:schemeClr val="accent5">
                  <a:lumMod val="50000"/>
                </a:schemeClr>
              </a:solidFill>
            </a:endParaRPr>
          </a:p>
          <a:p>
            <a:r>
              <a:rPr lang="en-US" sz="2000" dirty="0">
                <a:solidFill>
                  <a:schemeClr val="accent5">
                    <a:lumMod val="50000"/>
                  </a:schemeClr>
                </a:solidFill>
              </a:rPr>
              <a:t>The purpose of this study is to present a Machine Learning-Based Multi-Criteria Evaluation System (ML-MCES) that can objectively find countries to go to for both educational and employment purposes. In order to accomplish this, the ML-MCES was applied to six of the industrialized countries in the world (the United States, Canada, United Kingdom, Germany, Australia, and Japan) using seven different socio-economic characteristics to evaluate each country. The ML-MCES uses automated selection of models, combined with Explainable AI methods, in order to make recommendations that are both objective and transparent in nature.</a:t>
            </a:r>
          </a:p>
        </p:txBody>
      </p:sp>
      <p:sp>
        <p:nvSpPr>
          <p:cNvPr id="299" name="Text Placeholder 298"/>
          <p:cNvSpPr>
            <a:spLocks noGrp="1"/>
          </p:cNvSpPr>
          <p:nvPr>
            <p:ph type="body" sz="quarter" idx="11"/>
          </p:nvPr>
        </p:nvSpPr>
        <p:spPr>
          <a:xfrm>
            <a:off x="608842" y="2579876"/>
            <a:ext cx="6699250" cy="534670"/>
          </a:xfrm>
        </p:spPr>
        <p:txBody>
          <a:bodyPr/>
          <a:lstStyle/>
          <a:p>
            <a:r>
              <a:rPr lang="en-US" sz="2800">
                <a:sym typeface="+mn-ea"/>
              </a:rPr>
              <a:t>Abstract &amp; </a:t>
            </a:r>
            <a:r>
              <a:rPr lang="en-US" sz="2800">
                <a:solidFill>
                  <a:schemeClr val="accent5">
                    <a:lumMod val="50000"/>
                  </a:schemeClr>
                </a:solidFill>
              </a:rPr>
              <a:t>Introduction </a:t>
            </a:r>
          </a:p>
        </p:txBody>
      </p:sp>
      <p:sp>
        <p:nvSpPr>
          <p:cNvPr id="302" name="Text Placeholder 301"/>
          <p:cNvSpPr>
            <a:spLocks noGrp="1"/>
          </p:cNvSpPr>
          <p:nvPr>
            <p:ph type="body" sz="quarter" idx="19"/>
          </p:nvPr>
        </p:nvSpPr>
        <p:spPr>
          <a:xfrm>
            <a:off x="610958" y="11452542"/>
            <a:ext cx="6705600" cy="4264891"/>
          </a:xfrm>
        </p:spPr>
        <p:txBody>
          <a:bodyPr/>
          <a:lstStyle/>
          <a:p>
            <a:r>
              <a:rPr lang="en-US" sz="2000" b="0" i="0" dirty="0">
                <a:effectLst/>
              </a:rPr>
              <a:t>• Create a decision support system for global mobility, which is based on machine learning. </a:t>
            </a:r>
          </a:p>
          <a:p>
            <a:r>
              <a:rPr lang="en-US" sz="2000" b="0" i="0" dirty="0">
                <a:effectLst/>
              </a:rPr>
              <a:t>• Assess the socioeconomic characteristics of six developed nations using seven different socioeconomic measurements.</a:t>
            </a:r>
          </a:p>
          <a:p>
            <a:r>
              <a:rPr lang="en-US" sz="2000" b="0" i="0" dirty="0">
                <a:effectLst/>
              </a:rPr>
              <a:t> • Compare multiple classification algorithms to identify the best-performing algorithm for this project. </a:t>
            </a:r>
          </a:p>
          <a:p>
            <a:r>
              <a:rPr lang="en-US" sz="2000" b="0" i="0" dirty="0">
                <a:effectLst/>
              </a:rPr>
              <a:t>• Provide recommendations for which country is best for an individual based on their personal preferences.</a:t>
            </a:r>
          </a:p>
          <a:p>
            <a:r>
              <a:rPr lang="en-US" sz="2000" b="0" i="0" dirty="0">
                <a:effectLst/>
              </a:rPr>
              <a:t> • Use Explainable AI (LIME) to improve transparency in the recommendation process. </a:t>
            </a:r>
          </a:p>
          <a:p>
            <a:r>
              <a:rPr lang="en-US" sz="2000" b="0" i="0" dirty="0">
                <a:effectLst/>
              </a:rPr>
              <a:t>• Measure the quality of the recommendations by calculating the Top-K accuracy.</a:t>
            </a:r>
            <a:endParaRPr lang="en-US" sz="2000" dirty="0"/>
          </a:p>
        </p:txBody>
      </p:sp>
      <p:sp>
        <p:nvSpPr>
          <p:cNvPr id="303" name="Text Placeholder 302"/>
          <p:cNvSpPr>
            <a:spLocks noGrp="1"/>
          </p:cNvSpPr>
          <p:nvPr>
            <p:ph type="body" sz="quarter" idx="20"/>
          </p:nvPr>
        </p:nvSpPr>
        <p:spPr>
          <a:xfrm>
            <a:off x="610958" y="10721603"/>
            <a:ext cx="6700308" cy="534670"/>
          </a:xfrm>
        </p:spPr>
        <p:txBody>
          <a:bodyPr/>
          <a:lstStyle/>
          <a:p>
            <a:r>
              <a:rPr lang="en-US" sz="2800" dirty="0">
                <a:solidFill>
                  <a:schemeClr val="accent5">
                    <a:lumMod val="50000"/>
                  </a:schemeClr>
                </a:solidFill>
              </a:rPr>
              <a:t>Objectives</a:t>
            </a:r>
          </a:p>
        </p:txBody>
      </p:sp>
      <p:sp>
        <p:nvSpPr>
          <p:cNvPr id="304" name="Text Placeholder 303"/>
          <p:cNvSpPr>
            <a:spLocks noGrp="1"/>
          </p:cNvSpPr>
          <p:nvPr>
            <p:ph type="body" sz="quarter" idx="21"/>
          </p:nvPr>
        </p:nvSpPr>
        <p:spPr>
          <a:xfrm>
            <a:off x="7775471" y="3292285"/>
            <a:ext cx="6340579" cy="3551825"/>
          </a:xfrm>
        </p:spPr>
        <p:txBody>
          <a:bodyPr/>
          <a:lstStyle/>
          <a:p>
            <a:r>
              <a:rPr lang="en-US" sz="2000" b="0" i="0" dirty="0">
                <a:effectLst/>
              </a:rPr>
              <a:t>• Data sourced from around the world (2025). </a:t>
            </a:r>
          </a:p>
          <a:p>
            <a:r>
              <a:rPr lang="en-US" sz="2000" b="0" i="0" dirty="0">
                <a:effectLst/>
              </a:rPr>
              <a:t>• Seven socio-economic indicators have been converted to ordinal </a:t>
            </a:r>
          </a:p>
          <a:p>
            <a:r>
              <a:rPr lang="en-US" sz="2000" dirty="0"/>
              <a:t>   </a:t>
            </a:r>
            <a:r>
              <a:rPr lang="en-US" sz="2000" b="0" i="0" dirty="0">
                <a:effectLst/>
              </a:rPr>
              <a:t>categorical levels.</a:t>
            </a:r>
          </a:p>
          <a:p>
            <a:r>
              <a:rPr lang="en-US" sz="2000" b="0" i="0" dirty="0">
                <a:effectLst/>
              </a:rPr>
              <a:t> • Ordinal Encoding and Label Encoding methods were applied. </a:t>
            </a:r>
          </a:p>
          <a:p>
            <a:r>
              <a:rPr lang="en-US" sz="2000" b="0" i="0" dirty="0">
                <a:effectLst/>
              </a:rPr>
              <a:t>• 80/20 stratified sampling was used for splitting the dataset. </a:t>
            </a:r>
          </a:p>
          <a:p>
            <a:r>
              <a:rPr lang="en-US" sz="2000" b="0" i="0" dirty="0">
                <a:effectLst/>
              </a:rPr>
              <a:t>• Multiple classifiers were evaluated through Lazy Predict.</a:t>
            </a:r>
          </a:p>
          <a:p>
            <a:r>
              <a:rPr lang="en-US" sz="2000" b="0" i="0" dirty="0">
                <a:effectLst/>
              </a:rPr>
              <a:t> • The best classifier was chosen: Gaussian Naive Bayes. </a:t>
            </a:r>
          </a:p>
          <a:p>
            <a:r>
              <a:rPr lang="en-US" sz="2000" b="0" i="0" dirty="0">
                <a:effectLst/>
              </a:rPr>
              <a:t>• Performance metrics included Accuracy, Precision, Recall &amp; F1-Score. </a:t>
            </a:r>
          </a:p>
          <a:p>
            <a:r>
              <a:rPr lang="en-US" sz="2000" b="0" i="0" dirty="0">
                <a:effectLst/>
              </a:rPr>
              <a:t>• The quality of recommendation was measured in Top-K Accuracy. </a:t>
            </a:r>
          </a:p>
          <a:p>
            <a:r>
              <a:rPr lang="en-US" sz="2000" b="0" i="0" dirty="0">
                <a:effectLst/>
              </a:rPr>
              <a:t>• Explainability was implemented using LIME.</a:t>
            </a:r>
            <a:endParaRPr lang="en-US" sz="2000" dirty="0"/>
          </a:p>
        </p:txBody>
      </p:sp>
      <p:sp>
        <p:nvSpPr>
          <p:cNvPr id="305" name="Text Placeholder 304"/>
          <p:cNvSpPr>
            <a:spLocks noGrp="1"/>
          </p:cNvSpPr>
          <p:nvPr>
            <p:ph type="body" sz="quarter" idx="22"/>
          </p:nvPr>
        </p:nvSpPr>
        <p:spPr>
          <a:xfrm>
            <a:off x="7724776" y="2579876"/>
            <a:ext cx="13813366" cy="534670"/>
          </a:xfrm>
        </p:spPr>
        <p:txBody>
          <a:bodyPr/>
          <a:lstStyle/>
          <a:p>
            <a:r>
              <a:rPr lang="en-US" sz="2800">
                <a:solidFill>
                  <a:schemeClr val="accent5">
                    <a:lumMod val="50000"/>
                  </a:schemeClr>
                </a:solidFill>
              </a:rPr>
              <a:t>Methodology</a:t>
            </a:r>
          </a:p>
        </p:txBody>
      </p:sp>
      <p:sp>
        <p:nvSpPr>
          <p:cNvPr id="306" name="Text Placeholder 305"/>
          <p:cNvSpPr>
            <a:spLocks noGrp="1"/>
          </p:cNvSpPr>
          <p:nvPr>
            <p:ph type="body" sz="quarter" idx="23"/>
          </p:nvPr>
        </p:nvSpPr>
        <p:spPr>
          <a:xfrm>
            <a:off x="7820467" y="9032576"/>
            <a:ext cx="5712654" cy="4023028"/>
          </a:xfrm>
        </p:spPr>
        <p:txBody>
          <a:bodyPr/>
          <a:lstStyle/>
          <a:p>
            <a:r>
              <a:rPr lang="en-US" sz="2000" b="0" i="0" dirty="0">
                <a:effectLst/>
              </a:rPr>
              <a:t>• Accuracy of the Final Model: 83.33%</a:t>
            </a:r>
          </a:p>
          <a:p>
            <a:r>
              <a:rPr lang="en-US" sz="2000" b="0" i="0" dirty="0">
                <a:effectLst/>
              </a:rPr>
              <a:t> • Balanced Accuracy of the Final Model: 83% </a:t>
            </a:r>
          </a:p>
          <a:p>
            <a:r>
              <a:rPr lang="en-US" sz="2000" b="0" i="0" dirty="0">
                <a:effectLst/>
              </a:rPr>
              <a:t>• Macro F1 Score of the Final Model: 0.82 Top K Accuracies </a:t>
            </a:r>
          </a:p>
          <a:p>
            <a:r>
              <a:rPr lang="en-US" sz="2000" b="0" i="0" dirty="0">
                <a:effectLst/>
              </a:rPr>
              <a:t>• Top 1: 0.83 • Top 3: 1.00 • Top 5: 1.00</a:t>
            </a:r>
          </a:p>
          <a:p>
            <a:r>
              <a:rPr lang="en-US" sz="2000" b="0" i="0" dirty="0">
                <a:effectLst/>
              </a:rPr>
              <a:t> The system gives personalized and reliable recommendations. LIME explanations validate the logical impact of features (e.g., Quality of Life, Safety, Cost of Living, Education).</a:t>
            </a:r>
          </a:p>
          <a:p>
            <a:r>
              <a:rPr lang="en-US" sz="2000" dirty="0">
                <a:solidFill>
                  <a:schemeClr val="accent5">
                    <a:lumMod val="50000"/>
                  </a:schemeClr>
                </a:solidFill>
              </a:rPr>
              <a:t>• Gaussian had a stable performance when used with small datasets</a:t>
            </a:r>
          </a:p>
          <a:p>
            <a:r>
              <a:rPr lang="en-US" sz="2000" dirty="0">
                <a:solidFill>
                  <a:schemeClr val="accent5">
                    <a:lumMod val="50000"/>
                  </a:schemeClr>
                </a:solidFill>
              </a:rPr>
              <a:t>• Significant diagonal dominance noted in the confusion matrix</a:t>
            </a:r>
          </a:p>
          <a:p>
            <a:r>
              <a:rPr lang="en-US" sz="2000" dirty="0">
                <a:solidFill>
                  <a:schemeClr val="accent5">
                    <a:lumMod val="50000"/>
                  </a:schemeClr>
                </a:solidFill>
              </a:rPr>
              <a:t>• Low misclassification across similar socio-economic nations</a:t>
            </a:r>
          </a:p>
          <a:p>
            <a:r>
              <a:rPr lang="en-US" sz="2000" dirty="0">
                <a:solidFill>
                  <a:schemeClr val="accent5">
                    <a:lumMod val="50000"/>
                  </a:schemeClr>
                </a:solidFill>
              </a:rPr>
              <a:t>• Visualization shows consistency of evaluation metrics</a:t>
            </a:r>
          </a:p>
          <a:p>
            <a:r>
              <a:rPr lang="en-US" sz="2000" dirty="0">
                <a:solidFill>
                  <a:schemeClr val="accent5">
                    <a:lumMod val="50000"/>
                  </a:schemeClr>
                </a:solidFill>
              </a:rPr>
              <a:t>• Dynamic recommendation output created from a user profile tailored to their needs</a:t>
            </a:r>
          </a:p>
          <a:p>
            <a:endParaRPr lang="en-US" sz="2000" dirty="0"/>
          </a:p>
        </p:txBody>
      </p:sp>
      <p:sp>
        <p:nvSpPr>
          <p:cNvPr id="307" name="Text Placeholder 306"/>
          <p:cNvSpPr>
            <a:spLocks noGrp="1"/>
          </p:cNvSpPr>
          <p:nvPr>
            <p:ph type="body" sz="quarter" idx="24"/>
          </p:nvPr>
        </p:nvSpPr>
        <p:spPr>
          <a:xfrm>
            <a:off x="7775470" y="8384196"/>
            <a:ext cx="13813366" cy="534670"/>
          </a:xfrm>
        </p:spPr>
        <p:txBody>
          <a:bodyPr/>
          <a:lstStyle/>
          <a:p>
            <a:r>
              <a:rPr lang="en-US" sz="2800" dirty="0">
                <a:solidFill>
                  <a:schemeClr val="accent5">
                    <a:lumMod val="50000"/>
                  </a:schemeClr>
                </a:solidFill>
              </a:rPr>
              <a:t>Result</a:t>
            </a:r>
          </a:p>
        </p:txBody>
      </p:sp>
      <p:sp>
        <p:nvSpPr>
          <p:cNvPr id="310" name="Text Placeholder 309"/>
          <p:cNvSpPr>
            <a:spLocks noGrp="1"/>
          </p:cNvSpPr>
          <p:nvPr>
            <p:ph type="body" sz="quarter" idx="27"/>
          </p:nvPr>
        </p:nvSpPr>
        <p:spPr>
          <a:xfrm>
            <a:off x="21946360" y="10631752"/>
            <a:ext cx="6698012" cy="534670"/>
          </a:xfrm>
        </p:spPr>
        <p:txBody>
          <a:bodyPr/>
          <a:lstStyle/>
          <a:p>
            <a:r>
              <a:rPr lang="en-US" sz="2800" dirty="0">
                <a:solidFill>
                  <a:schemeClr val="accent5">
                    <a:lumMod val="50000"/>
                  </a:schemeClr>
                </a:solidFill>
              </a:rPr>
              <a:t>References</a:t>
            </a:r>
          </a:p>
        </p:txBody>
      </p:sp>
      <p:sp>
        <p:nvSpPr>
          <p:cNvPr id="312" name="Text Placeholder 311"/>
          <p:cNvSpPr>
            <a:spLocks noGrp="1"/>
          </p:cNvSpPr>
          <p:nvPr>
            <p:ph type="body" sz="quarter" idx="29"/>
          </p:nvPr>
        </p:nvSpPr>
        <p:spPr>
          <a:xfrm>
            <a:off x="21952181" y="2596685"/>
            <a:ext cx="6698012" cy="534670"/>
          </a:xfrm>
        </p:spPr>
        <p:txBody>
          <a:bodyPr/>
          <a:lstStyle/>
          <a:p>
            <a:r>
              <a:rPr lang="en-US" sz="2800" dirty="0">
                <a:solidFill>
                  <a:schemeClr val="accent5">
                    <a:lumMod val="50000"/>
                  </a:schemeClr>
                </a:solidFill>
              </a:rPr>
              <a:t>Conclusion &amp; Future Work</a:t>
            </a:r>
          </a:p>
        </p:txBody>
      </p:sp>
      <p:sp>
        <p:nvSpPr>
          <p:cNvPr id="313" name="Text Placeholder 312"/>
          <p:cNvSpPr>
            <a:spLocks noGrp="1"/>
          </p:cNvSpPr>
          <p:nvPr>
            <p:ph type="body" sz="quarter" idx="30"/>
          </p:nvPr>
        </p:nvSpPr>
        <p:spPr>
          <a:xfrm>
            <a:off x="21948827" y="3158911"/>
            <a:ext cx="6701366" cy="7281101"/>
          </a:xfrm>
        </p:spPr>
        <p:txBody>
          <a:bodyPr/>
          <a:lstStyle/>
          <a:p>
            <a:r>
              <a:rPr lang="en-US" sz="2000" dirty="0">
                <a:solidFill>
                  <a:schemeClr val="accent5">
                    <a:lumMod val="50000"/>
                  </a:schemeClr>
                </a:solidFill>
              </a:rPr>
              <a:t>This study provides a strong Machine Learning (ML) based Multi-Criteria Evaluation (MCE) system to support decision-making about Global Mobility. The Gaussian Naive Bayes classification model used in the study was stable and achieved high classification accuracy, as well as high Top-K recommendation reliability.</a:t>
            </a:r>
          </a:p>
          <a:p>
            <a:endParaRPr lang="en-US" sz="2000" dirty="0">
              <a:solidFill>
                <a:schemeClr val="accent5">
                  <a:lumMod val="50000"/>
                </a:schemeClr>
              </a:solidFill>
            </a:endParaRPr>
          </a:p>
          <a:p>
            <a:r>
              <a:rPr lang="en-US" sz="2000" dirty="0">
                <a:solidFill>
                  <a:schemeClr val="accent5">
                    <a:lumMod val="50000"/>
                  </a:schemeClr>
                </a:solidFill>
              </a:rPr>
              <a:t>The addition of Explainable Artificial Intelligence (AI) adds transparency and trust from the user. This ML-MCE system is able to support international decision-making about global mobility.</a:t>
            </a:r>
          </a:p>
          <a:p>
            <a:endParaRPr lang="en-US" sz="2000" dirty="0">
              <a:solidFill>
                <a:schemeClr val="accent5">
                  <a:lumMod val="50000"/>
                </a:schemeClr>
              </a:solidFill>
            </a:endParaRPr>
          </a:p>
          <a:p>
            <a:r>
              <a:rPr lang="en-US" sz="2000" dirty="0">
                <a:solidFill>
                  <a:schemeClr val="accent5">
                    <a:lumMod val="50000"/>
                  </a:schemeClr>
                </a:solidFill>
              </a:rPr>
              <a:t>Proposed Future Work:</a:t>
            </a:r>
          </a:p>
          <a:p>
            <a:r>
              <a:rPr lang="en-US" sz="2000" dirty="0">
                <a:solidFill>
                  <a:schemeClr val="accent5">
                    <a:lumMod val="50000"/>
                  </a:schemeClr>
                </a:solidFill>
              </a:rPr>
              <a:t>• Increase the number of countries from the training dataset from 16 to more than 25.</a:t>
            </a:r>
          </a:p>
          <a:p>
            <a:r>
              <a:rPr lang="en-US" sz="2000" dirty="0">
                <a:solidFill>
                  <a:schemeClr val="accent5">
                    <a:lumMod val="50000"/>
                  </a:schemeClr>
                </a:solidFill>
              </a:rPr>
              <a:t>• Add new socio-economic data in real time.</a:t>
            </a:r>
          </a:p>
          <a:p>
            <a:r>
              <a:rPr lang="en-US" sz="2000" dirty="0">
                <a:solidFill>
                  <a:schemeClr val="accent5">
                    <a:lumMod val="50000"/>
                  </a:schemeClr>
                </a:solidFill>
              </a:rPr>
              <a:t>• Research the use of ensemble models with well-built classification algorithms.</a:t>
            </a:r>
          </a:p>
          <a:p>
            <a:r>
              <a:rPr lang="en-US" sz="2000" dirty="0">
                <a:solidFill>
                  <a:schemeClr val="accent5">
                    <a:lumMod val="50000"/>
                  </a:schemeClr>
                </a:solidFill>
              </a:rPr>
              <a:t>• Create a web-based interactive interface.</a:t>
            </a:r>
          </a:p>
          <a:p>
            <a:r>
              <a:rPr lang="en-US" sz="2000" dirty="0">
                <a:solidFill>
                  <a:schemeClr val="accent5">
                    <a:lumMod val="50000"/>
                  </a:schemeClr>
                </a:solidFill>
              </a:rPr>
              <a:t>• Compare and contrast ML-MCE with the more traditional multi-criteria decision-making techniques.</a:t>
            </a:r>
          </a:p>
        </p:txBody>
      </p:sp>
      <p:sp>
        <p:nvSpPr>
          <p:cNvPr id="351" name="Text Placeholder 350"/>
          <p:cNvSpPr>
            <a:spLocks noGrp="1"/>
          </p:cNvSpPr>
          <p:nvPr>
            <p:ph type="body" sz="quarter" idx="150"/>
          </p:nvPr>
        </p:nvSpPr>
        <p:spPr>
          <a:xfrm>
            <a:off x="3958273" y="1488380"/>
            <a:ext cx="21447761" cy="598230"/>
          </a:xfrm>
        </p:spPr>
        <p:txBody>
          <a:bodyPr>
            <a:normAutofit fontScale="90000" lnSpcReduction="10000"/>
          </a:bodyPr>
          <a:lstStyle/>
          <a:p>
            <a:r>
              <a:rPr lang="en-US" b="1" dirty="0">
                <a:solidFill>
                  <a:schemeClr val="accent5">
                    <a:lumMod val="50000"/>
                  </a:schemeClr>
                </a:solidFill>
              </a:rPr>
              <a:t>Authors’ Name</a:t>
            </a:r>
            <a:r>
              <a:rPr lang="en-US" b="1" dirty="0"/>
              <a:t>: </a:t>
            </a:r>
            <a:r>
              <a:rPr lang="en-US" dirty="0"/>
              <a:t>Hasibul Islam</a:t>
            </a:r>
            <a:r>
              <a:rPr lang="en-US" baseline="30000" dirty="0"/>
              <a:t>1</a:t>
            </a:r>
            <a:r>
              <a:rPr lang="en-US" dirty="0"/>
              <a:t>, Abida Afrin</a:t>
            </a:r>
            <a:r>
              <a:rPr lang="en-US" baseline="30000" dirty="0"/>
              <a:t>2</a:t>
            </a:r>
            <a:r>
              <a:rPr lang="en-US" dirty="0"/>
              <a:t>, Tasfia Tofail</a:t>
            </a:r>
            <a:r>
              <a:rPr lang="en-US" baseline="30000" dirty="0"/>
              <a:t>3</a:t>
            </a:r>
            <a:r>
              <a:rPr lang="en-US" dirty="0"/>
              <a:t>, Sharfuddin Mahmood</a:t>
            </a:r>
            <a:r>
              <a:rPr lang="en-US" baseline="30000" dirty="0"/>
              <a:t>4 </a:t>
            </a:r>
            <a:endParaRPr lang="en-US" b="1" baseline="30000" dirty="0">
              <a:solidFill>
                <a:schemeClr val="accent5">
                  <a:lumMod val="50000"/>
                </a:schemeClr>
              </a:solidFill>
            </a:endParaRPr>
          </a:p>
        </p:txBody>
      </p:sp>
      <p:sp>
        <p:nvSpPr>
          <p:cNvPr id="352" name="Text Placeholder 351"/>
          <p:cNvSpPr>
            <a:spLocks noGrp="1"/>
          </p:cNvSpPr>
          <p:nvPr>
            <p:ph type="body" sz="quarter" idx="184"/>
          </p:nvPr>
        </p:nvSpPr>
        <p:spPr>
          <a:xfrm>
            <a:off x="9996488" y="232410"/>
            <a:ext cx="9371330" cy="634365"/>
          </a:xfrm>
        </p:spPr>
        <p:txBody>
          <a:bodyPr>
            <a:noAutofit/>
          </a:bodyPr>
          <a:lstStyle/>
          <a:p>
            <a:r>
              <a:rPr lang="en-US" sz="4000" b="1" dirty="0">
                <a:sym typeface="+mn-ea"/>
              </a:rPr>
              <a:t>Paper ID: 4811 </a:t>
            </a:r>
            <a:endParaRPr lang="en-US" sz="4000" b="1" dirty="0">
              <a:solidFill>
                <a:schemeClr val="accent5">
                  <a:lumMod val="50000"/>
                </a:schemeClr>
              </a:solidFill>
              <a:sym typeface="+mn-ea"/>
            </a:endParaRPr>
          </a:p>
        </p:txBody>
      </p:sp>
      <p:sp>
        <p:nvSpPr>
          <p:cNvPr id="353" name="Text Placeholder 352"/>
          <p:cNvSpPr>
            <a:spLocks noGrp="1"/>
          </p:cNvSpPr>
          <p:nvPr>
            <p:ph type="body" sz="quarter" idx="185"/>
          </p:nvPr>
        </p:nvSpPr>
        <p:spPr>
          <a:xfrm>
            <a:off x="3958273" y="866751"/>
            <a:ext cx="21447761" cy="834414"/>
          </a:xfrm>
        </p:spPr>
        <p:txBody>
          <a:bodyPr/>
          <a:lstStyle/>
          <a:p>
            <a:r>
              <a:rPr lang="en-US" sz="3600" b="1" dirty="0">
                <a:solidFill>
                  <a:schemeClr val="accent5">
                    <a:lumMod val="50000"/>
                  </a:schemeClr>
                </a:solidFill>
              </a:rPr>
              <a:t>Paper Title: </a:t>
            </a:r>
            <a:r>
              <a:rPr lang="en-US" sz="3600" dirty="0"/>
              <a:t>Machine Learning Based Multi-Criteria Evaluation of Six Developed Countries for Mobility Decision</a:t>
            </a:r>
            <a:r>
              <a:rPr lang="en-US" sz="3600" b="1" dirty="0">
                <a:solidFill>
                  <a:schemeClr val="accent5">
                    <a:lumMod val="50000"/>
                  </a:schemeClr>
                </a:solidFill>
              </a:rPr>
              <a:t> </a:t>
            </a:r>
          </a:p>
        </p:txBody>
      </p:sp>
      <p:pic>
        <p:nvPicPr>
          <p:cNvPr id="2" name="Picture 1" descr="ps-bdc-log.-06"/>
          <p:cNvPicPr>
            <a:picLocks noChangeAspect="1"/>
          </p:cNvPicPr>
          <p:nvPr/>
        </p:nvPicPr>
        <p:blipFill>
          <a:blip r:embed="rId5"/>
          <a:stretch>
            <a:fillRect/>
          </a:stretch>
        </p:blipFill>
        <p:spPr>
          <a:xfrm>
            <a:off x="25457785" y="497205"/>
            <a:ext cx="3538855" cy="1386205"/>
          </a:xfrm>
          <a:prstGeom prst="rect">
            <a:avLst/>
          </a:prstGeom>
        </p:spPr>
      </p:pic>
      <p:pic>
        <p:nvPicPr>
          <p:cNvPr id="3" name="Picture 2"/>
          <p:cNvPicPr/>
          <p:nvPr/>
        </p:nvPicPr>
        <p:blipFill>
          <a:blip r:embed="rId6"/>
          <a:stretch>
            <a:fillRect/>
          </a:stretch>
        </p:blipFill>
        <p:spPr>
          <a:xfrm>
            <a:off x="193040" y="232410"/>
            <a:ext cx="2083435" cy="1677035"/>
          </a:xfrm>
          <a:prstGeom prst="rect">
            <a:avLst/>
          </a:prstGeom>
        </p:spPr>
      </p:pic>
      <p:sp>
        <p:nvSpPr>
          <p:cNvPr id="4" name="Text Box 3"/>
          <p:cNvSpPr txBox="1"/>
          <p:nvPr/>
        </p:nvSpPr>
        <p:spPr>
          <a:xfrm>
            <a:off x="8855710" y="6217920"/>
            <a:ext cx="9753600" cy="306705"/>
          </a:xfrm>
          <a:prstGeom prst="rect">
            <a:avLst/>
          </a:prstGeom>
          <a:noFill/>
        </p:spPr>
        <p:txBody>
          <a:bodyPr wrap="square" rtlCol="0">
            <a:spAutoFit/>
          </a:bodyPr>
          <a:lstStyle/>
          <a:p>
            <a:endParaRPr lang="en-US" sz="1400" dirty="0">
              <a:latin typeface="Times New Roman" panose="02020603050405020304" pitchFamily="18" charset="0"/>
              <a:cs typeface="Times New Roman" panose="02020603050405020304" pitchFamily="18" charset="0"/>
            </a:endParaRPr>
          </a:p>
        </p:txBody>
      </p:sp>
      <p:sp>
        <p:nvSpPr>
          <p:cNvPr id="8" name="Text Placeholder 303"/>
          <p:cNvSpPr>
            <a:spLocks noGrp="1"/>
          </p:cNvSpPr>
          <p:nvPr/>
        </p:nvSpPr>
        <p:spPr>
          <a:xfrm>
            <a:off x="608965" y="16019145"/>
            <a:ext cx="8503920" cy="397510"/>
          </a:xfrm>
          <a:prstGeom prst="rect">
            <a:avLst/>
          </a:prstGeom>
          <a:solidFill>
            <a:srgbClr val="E4EFFD"/>
          </a:solidFill>
        </p:spPr>
        <p:txBody>
          <a:bodyPr wrap="square" lIns="130622" tIns="130622" rIns="130622" bIns="130622">
            <a:noAutofit/>
          </a:bodyPr>
          <a:lstStyle>
            <a:lvl1pPr marL="0" indent="0" algn="l" defTabSz="2675255" rtl="0" eaLnBrk="1" latinLnBrk="0" hangingPunct="1">
              <a:spcBef>
                <a:spcPct val="20000"/>
              </a:spcBef>
              <a:buFont typeface="Arial" panose="020B0604020202020204" pitchFamily="34" charset="0"/>
              <a:buNone/>
              <a:defRPr sz="1495"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905510" indent="-348615" algn="l" defTabSz="2675255" rtl="0" eaLnBrk="1" latinLnBrk="0" hangingPunct="1">
              <a:spcBef>
                <a:spcPct val="20000"/>
              </a:spcBef>
              <a:buFont typeface="Arial" panose="020B0604020202020204" pitchFamily="34" charset="0"/>
              <a:buChar char="–"/>
              <a:defRPr sz="1495" kern="1200">
                <a:solidFill>
                  <a:schemeClr val="tx1"/>
                </a:solidFill>
                <a:latin typeface="Trebuchet MS" panose="020B0603020202020204" pitchFamily="34" charset="0"/>
                <a:ea typeface="+mn-ea"/>
                <a:cs typeface="+mn-cs"/>
              </a:defRPr>
            </a:lvl2pPr>
            <a:lvl3pPr marL="1254125" indent="-348615" algn="l" defTabSz="2675255" rtl="0" eaLnBrk="1" latinLnBrk="0" hangingPunct="1">
              <a:spcBef>
                <a:spcPct val="20000"/>
              </a:spcBef>
              <a:buFont typeface="Arial" panose="020B0604020202020204" pitchFamily="34" charset="0"/>
              <a:buChar char="•"/>
              <a:defRPr sz="1495" kern="1200">
                <a:solidFill>
                  <a:schemeClr val="tx1"/>
                </a:solidFill>
                <a:latin typeface="Trebuchet MS" panose="020B0603020202020204" pitchFamily="34" charset="0"/>
                <a:ea typeface="+mn-ea"/>
                <a:cs typeface="+mn-cs"/>
              </a:defRPr>
            </a:lvl3pPr>
            <a:lvl4pPr marL="1637030" indent="-382905" algn="l" defTabSz="2675255" rtl="0" eaLnBrk="1" latinLnBrk="0" hangingPunct="1">
              <a:spcBef>
                <a:spcPct val="20000"/>
              </a:spcBef>
              <a:buFont typeface="Arial" panose="020B0604020202020204" pitchFamily="34" charset="0"/>
              <a:buChar char="–"/>
              <a:defRPr sz="1495" kern="1200">
                <a:solidFill>
                  <a:schemeClr val="tx1"/>
                </a:solidFill>
                <a:latin typeface="Trebuchet MS" panose="020B0603020202020204" pitchFamily="34" charset="0"/>
                <a:ea typeface="+mn-ea"/>
                <a:cs typeface="+mn-cs"/>
              </a:defRPr>
            </a:lvl4pPr>
            <a:lvl5pPr marL="1915795" indent="-278765" algn="l" defTabSz="2675255" rtl="0" eaLnBrk="1" latinLnBrk="0" hangingPunct="1">
              <a:spcBef>
                <a:spcPct val="20000"/>
              </a:spcBef>
              <a:buFont typeface="Arial" panose="020B0604020202020204" pitchFamily="34" charset="0"/>
              <a:buChar char="»"/>
              <a:defRPr sz="1495" kern="1200">
                <a:solidFill>
                  <a:schemeClr val="tx1"/>
                </a:solidFill>
                <a:latin typeface="Trebuchet MS" panose="020B0603020202020204" pitchFamily="34" charset="0"/>
                <a:ea typeface="+mn-ea"/>
                <a:cs typeface="+mn-cs"/>
              </a:defRPr>
            </a:lvl5pPr>
            <a:lvl6pPr marL="735711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6pPr>
            <a:lvl7pPr marL="8694420"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7pPr>
            <a:lvl8pPr marL="1003236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8pPr>
            <a:lvl9pPr marL="11369675" indent="-668655" algn="l" defTabSz="2675255" rtl="0" eaLnBrk="1" latinLnBrk="0" hangingPunct="1">
              <a:spcBef>
                <a:spcPct val="20000"/>
              </a:spcBef>
              <a:buFont typeface="Arial" panose="020B0604020202020204" pitchFamily="34" charset="0"/>
              <a:buChar char="•"/>
              <a:defRPr sz="5865" kern="1200">
                <a:solidFill>
                  <a:schemeClr val="tx1"/>
                </a:solidFill>
                <a:latin typeface="+mn-lt"/>
                <a:ea typeface="+mn-ea"/>
                <a:cs typeface="+mn-cs"/>
              </a:defRPr>
            </a:lvl9pPr>
          </a:lstStyle>
          <a:p>
            <a:r>
              <a:rPr lang="en-US" altLang="en-US" b="1">
                <a:solidFill>
                  <a:schemeClr val="accent5">
                    <a:lumMod val="50000"/>
                  </a:schemeClr>
                </a:solidFill>
              </a:rPr>
              <a:t>2026 IEEE International Conference on Quantum Photonics, Artificial Intelligence, and Networking</a:t>
            </a:r>
          </a:p>
        </p:txBody>
      </p:sp>
      <p:sp>
        <p:nvSpPr>
          <p:cNvPr id="5" name="Rectangle 1">
            <a:extLst>
              <a:ext uri="{FF2B5EF4-FFF2-40B4-BE49-F238E27FC236}">
                <a16:creationId xmlns:a16="http://schemas.microsoft.com/office/drawing/2014/main" id="{5D7243C8-2D68-4DC7-BDD3-E590B8D202CD}"/>
              </a:ext>
            </a:extLst>
          </p:cNvPr>
          <p:cNvSpPr>
            <a:spLocks noGrp="1" noChangeArrowheads="1"/>
          </p:cNvSpPr>
          <p:nvPr>
            <p:ph type="body" sz="quarter" idx="28"/>
          </p:nvPr>
        </p:nvSpPr>
        <p:spPr bwMode="auto">
          <a:xfrm>
            <a:off x="22033905" y="11256273"/>
            <a:ext cx="637381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t>[1] Anatoly Oleksiyenko. Global mobility and higher learning. Routledge, 2018.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t>[2] World Health Organization and World Bank Group. Delivering Quality Health Services: A Global Imperative. OECD Publishing, 2018. </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t>[3] OECD. Education at a glance. 2021.</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t> [4] Dandi Merga Gutema, Sukrit Pant, and Shahrokh Nikou. Exploring key themes and trends in international student mobility research—a systematic literature review. Journal of Applied Research in Higher Education, 16(3):843–861, 2024.</a:t>
            </a:r>
          </a:p>
          <a:p>
            <a:pPr marL="0" marR="0" lvl="0" indent="0" algn="l" defTabSz="914400" rtl="0" eaLnBrk="0" fontAlgn="base" latinLnBrk="0" hangingPunct="0">
              <a:lnSpc>
                <a:spcPct val="100000"/>
              </a:lnSpc>
              <a:spcBef>
                <a:spcPct val="0"/>
              </a:spcBef>
              <a:spcAft>
                <a:spcPct val="0"/>
              </a:spcAft>
              <a:buClrTx/>
              <a:buSzTx/>
              <a:buFontTx/>
              <a:buChar char="•"/>
              <a:tabLst/>
            </a:pPr>
            <a:r>
              <a:rPr lang="en-US" sz="2000" dirty="0"/>
              <a:t> [5] Gallup. Migrant acceptance index. 2022.</a:t>
            </a:r>
            <a:endParaRPr kumimoji="0" lang="en-US" altLang="en-US" sz="2000" b="0" i="0" u="none" strike="noStrike" cap="none" normalizeH="0" baseline="0" dirty="0">
              <a:ln>
                <a:noFill/>
              </a:ln>
              <a:effectLst/>
            </a:endParaRPr>
          </a:p>
        </p:txBody>
      </p:sp>
      <p:pic>
        <p:nvPicPr>
          <p:cNvPr id="6" name="Picture 5">
            <a:extLst>
              <a:ext uri="{FF2B5EF4-FFF2-40B4-BE49-F238E27FC236}">
                <a16:creationId xmlns:a16="http://schemas.microsoft.com/office/drawing/2014/main" id="{B1EB0EB1-1CD7-49F1-81EC-E8ADBBC66097}"/>
              </a:ext>
            </a:extLst>
          </p:cNvPr>
          <p:cNvPicPr>
            <a:picLocks noChangeAspect="1"/>
          </p:cNvPicPr>
          <p:nvPr/>
        </p:nvPicPr>
        <p:blipFill>
          <a:blip r:embed="rId7"/>
          <a:stretch>
            <a:fillRect/>
          </a:stretch>
        </p:blipFill>
        <p:spPr>
          <a:xfrm>
            <a:off x="14528009" y="3093944"/>
            <a:ext cx="6340579" cy="4727703"/>
          </a:xfrm>
          <a:prstGeom prst="rect">
            <a:avLst/>
          </a:prstGeom>
        </p:spPr>
      </p:pic>
      <p:pic>
        <p:nvPicPr>
          <p:cNvPr id="10" name="Picture 9">
            <a:extLst>
              <a:ext uri="{FF2B5EF4-FFF2-40B4-BE49-F238E27FC236}">
                <a16:creationId xmlns:a16="http://schemas.microsoft.com/office/drawing/2014/main" id="{C32E1354-3049-4BD6-A1A4-B4A9A5FFE31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701422" y="9348482"/>
            <a:ext cx="3327396" cy="2104172"/>
          </a:xfrm>
          <a:prstGeom prst="rect">
            <a:avLst/>
          </a:prstGeom>
        </p:spPr>
      </p:pic>
      <p:pic>
        <p:nvPicPr>
          <p:cNvPr id="12" name="Picture 11">
            <a:extLst>
              <a:ext uri="{FF2B5EF4-FFF2-40B4-BE49-F238E27FC236}">
                <a16:creationId xmlns:a16="http://schemas.microsoft.com/office/drawing/2014/main" id="{BE75C2AD-DC18-422F-94F4-3E61E50F6D5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7568937" y="9287601"/>
            <a:ext cx="3616058" cy="2366321"/>
          </a:xfrm>
          <a:prstGeom prst="rect">
            <a:avLst/>
          </a:prstGeom>
        </p:spPr>
      </p:pic>
      <p:pic>
        <p:nvPicPr>
          <p:cNvPr id="14" name="Picture 13">
            <a:extLst>
              <a:ext uri="{FF2B5EF4-FFF2-40B4-BE49-F238E27FC236}">
                <a16:creationId xmlns:a16="http://schemas.microsoft.com/office/drawing/2014/main" id="{0F4AEEB1-B67A-4BF2-A580-21AC27FA3C3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3593993" y="12648431"/>
            <a:ext cx="3672468" cy="2322389"/>
          </a:xfrm>
          <a:prstGeom prst="rect">
            <a:avLst/>
          </a:prstGeom>
        </p:spPr>
      </p:pic>
      <p:sp>
        <p:nvSpPr>
          <p:cNvPr id="32" name="TextBox 31">
            <a:extLst>
              <a:ext uri="{FF2B5EF4-FFF2-40B4-BE49-F238E27FC236}">
                <a16:creationId xmlns:a16="http://schemas.microsoft.com/office/drawing/2014/main" id="{68701E8F-3C6F-4243-8A98-8706006FD439}"/>
              </a:ext>
            </a:extLst>
          </p:cNvPr>
          <p:cNvSpPr txBox="1"/>
          <p:nvPr/>
        </p:nvSpPr>
        <p:spPr>
          <a:xfrm>
            <a:off x="15827020" y="7706142"/>
            <a:ext cx="4664863" cy="846386"/>
          </a:xfrm>
          <a:prstGeom prst="rect">
            <a:avLst/>
          </a:prstGeom>
          <a:noFill/>
        </p:spPr>
        <p:txBody>
          <a:bodyPr wrap="square">
            <a:spAutoFit/>
          </a:bodyPr>
          <a:lstStyle/>
          <a:p>
            <a:r>
              <a:rPr lang="en-US" dirty="0"/>
              <a:t> </a:t>
            </a:r>
            <a:r>
              <a:rPr lang="en-US" sz="2000" b="1" dirty="0">
                <a:solidFill>
                  <a:schemeClr val="accent5">
                    <a:lumMod val="50000"/>
                  </a:schemeClr>
                </a:solidFill>
                <a:latin typeface="Times New Roman" panose="02020603050405020304" pitchFamily="18" charset="0"/>
                <a:cs typeface="Times New Roman" panose="02020603050405020304" pitchFamily="18" charset="0"/>
              </a:rPr>
              <a:t>Fig. 1: ML-MCES System Workflow</a:t>
            </a:r>
            <a:endParaRPr lang="en-US" sz="2000"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F0F727F8-65F3-4F45-916D-400D2FEAAFAE}"/>
              </a:ext>
            </a:extLst>
          </p:cNvPr>
          <p:cNvSpPr txBox="1"/>
          <p:nvPr/>
        </p:nvSpPr>
        <p:spPr>
          <a:xfrm>
            <a:off x="13677635" y="11553346"/>
            <a:ext cx="3746788" cy="707886"/>
          </a:xfrm>
          <a:prstGeom prst="rect">
            <a:avLst/>
          </a:prstGeom>
          <a:noFill/>
        </p:spPr>
        <p:txBody>
          <a:bodyPr wrap="square">
            <a:spAutoFit/>
          </a:bodyPr>
          <a:lstStyle/>
          <a:p>
            <a:r>
              <a:rPr lang="en-US" sz="2000" b="1" dirty="0">
                <a:solidFill>
                  <a:schemeClr val="accent5">
                    <a:lumMod val="50000"/>
                  </a:schemeClr>
                </a:solidFill>
                <a:latin typeface="Times New Roman" panose="02020603050405020304" pitchFamily="18" charset="0"/>
                <a:cs typeface="Times New Roman" panose="02020603050405020304" pitchFamily="18" charset="0"/>
              </a:rPr>
              <a:t>Fig. 2: Country Classification Confusion Matrix</a:t>
            </a:r>
          </a:p>
        </p:txBody>
      </p:sp>
      <p:sp>
        <p:nvSpPr>
          <p:cNvPr id="36" name="TextBox 35">
            <a:extLst>
              <a:ext uri="{FF2B5EF4-FFF2-40B4-BE49-F238E27FC236}">
                <a16:creationId xmlns:a16="http://schemas.microsoft.com/office/drawing/2014/main" id="{578F2023-8D9F-469D-A6AE-0945A758C0D9}"/>
              </a:ext>
            </a:extLst>
          </p:cNvPr>
          <p:cNvSpPr txBox="1"/>
          <p:nvPr/>
        </p:nvSpPr>
        <p:spPr>
          <a:xfrm>
            <a:off x="18006088" y="11514770"/>
            <a:ext cx="3211459" cy="707886"/>
          </a:xfrm>
          <a:prstGeom prst="rect">
            <a:avLst/>
          </a:prstGeom>
          <a:noFill/>
        </p:spPr>
        <p:txBody>
          <a:bodyPr wrap="square">
            <a:spAutoFit/>
          </a:bodyPr>
          <a:lstStyle/>
          <a:p>
            <a:r>
              <a:rPr lang="en-US" sz="2000" b="1" dirty="0">
                <a:solidFill>
                  <a:schemeClr val="accent5">
                    <a:lumMod val="50000"/>
                  </a:schemeClr>
                </a:solidFill>
                <a:latin typeface="Times New Roman" panose="02020603050405020304" pitchFamily="18" charset="0"/>
                <a:cs typeface="Times New Roman" panose="02020603050405020304" pitchFamily="18" charset="0"/>
              </a:rPr>
              <a:t>Fig. 3: Top-K Recommendation Accuracy</a:t>
            </a:r>
          </a:p>
        </p:txBody>
      </p:sp>
      <p:pic>
        <p:nvPicPr>
          <p:cNvPr id="20" name="Picture 19">
            <a:extLst>
              <a:ext uri="{FF2B5EF4-FFF2-40B4-BE49-F238E27FC236}">
                <a16:creationId xmlns:a16="http://schemas.microsoft.com/office/drawing/2014/main" id="{650D8001-0534-418F-9D09-A1478EE27D7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7417577" y="12591391"/>
            <a:ext cx="3710823" cy="2366321"/>
          </a:xfrm>
          <a:prstGeom prst="rect">
            <a:avLst/>
          </a:prstGeom>
        </p:spPr>
      </p:pic>
      <p:sp>
        <p:nvSpPr>
          <p:cNvPr id="42" name="TextBox 41">
            <a:extLst>
              <a:ext uri="{FF2B5EF4-FFF2-40B4-BE49-F238E27FC236}">
                <a16:creationId xmlns:a16="http://schemas.microsoft.com/office/drawing/2014/main" id="{40B73931-EE89-47B0-85E3-BEDDB8B7CF7C}"/>
              </a:ext>
            </a:extLst>
          </p:cNvPr>
          <p:cNvSpPr txBox="1"/>
          <p:nvPr/>
        </p:nvSpPr>
        <p:spPr>
          <a:xfrm>
            <a:off x="17865674" y="14970820"/>
            <a:ext cx="3672468" cy="715827"/>
          </a:xfrm>
          <a:prstGeom prst="rect">
            <a:avLst/>
          </a:prstGeom>
          <a:noFill/>
        </p:spPr>
        <p:txBody>
          <a:bodyPr wrap="square">
            <a:spAutoFit/>
          </a:bodyPr>
          <a:lstStyle/>
          <a:p>
            <a:r>
              <a:rPr lang="en-US" sz="2000" b="1" dirty="0">
                <a:solidFill>
                  <a:schemeClr val="accent5">
                    <a:lumMod val="50000"/>
                  </a:schemeClr>
                </a:solidFill>
                <a:latin typeface="Times New Roman" panose="02020603050405020304" pitchFamily="18" charset="0"/>
                <a:cs typeface="Times New Roman" panose="02020603050405020304" pitchFamily="18" charset="0"/>
              </a:rPr>
              <a:t>Fig. 5: User-Based Recommendation Output</a:t>
            </a:r>
          </a:p>
        </p:txBody>
      </p:sp>
      <p:sp>
        <p:nvSpPr>
          <p:cNvPr id="44" name="TextBox 43">
            <a:extLst>
              <a:ext uri="{FF2B5EF4-FFF2-40B4-BE49-F238E27FC236}">
                <a16:creationId xmlns:a16="http://schemas.microsoft.com/office/drawing/2014/main" id="{3CF690C1-4183-49A0-A94C-BE2E9A5A0CF2}"/>
              </a:ext>
            </a:extLst>
          </p:cNvPr>
          <p:cNvSpPr txBox="1"/>
          <p:nvPr/>
        </p:nvSpPr>
        <p:spPr>
          <a:xfrm>
            <a:off x="13533122" y="14957712"/>
            <a:ext cx="3891302" cy="707886"/>
          </a:xfrm>
          <a:prstGeom prst="rect">
            <a:avLst/>
          </a:prstGeom>
          <a:noFill/>
        </p:spPr>
        <p:txBody>
          <a:bodyPr wrap="square">
            <a:spAutoFit/>
          </a:bodyPr>
          <a:lstStyle/>
          <a:p>
            <a:r>
              <a:rPr lang="en-US" sz="2000" b="1" dirty="0">
                <a:solidFill>
                  <a:schemeClr val="accent5">
                    <a:lumMod val="50000"/>
                  </a:schemeClr>
                </a:solidFill>
                <a:latin typeface="Times New Roman" panose="02020603050405020304" pitchFamily="18" charset="0"/>
                <a:cs typeface="Times New Roman" panose="02020603050405020304" pitchFamily="18" charset="0"/>
              </a:rPr>
              <a:t>Fig. 4: Comparison Of Requirement Scores Among Users</a:t>
            </a:r>
          </a:p>
        </p:txBody>
      </p:sp>
      <p:pic>
        <p:nvPicPr>
          <p:cNvPr id="17" name="Audio 16">
            <a:hlinkClick r:id="" action="ppaction://media"/>
            <a:extLst>
              <a:ext uri="{FF2B5EF4-FFF2-40B4-BE49-F238E27FC236}">
                <a16:creationId xmlns:a16="http://schemas.microsoft.com/office/drawing/2014/main" id="{26AB4DC4-799B-4172-BCFD-4D9C878A447A}"/>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28621038" y="15819438"/>
            <a:ext cx="487362" cy="48736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2857"/>
    </mc:Choice>
    <mc:Fallback>
      <p:transition spd="slow" advTm="3428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theme/theme1.xml><?xml version="1.0" encoding="utf-8"?>
<a:theme xmlns:a="http://schemas.openxmlformats.org/drawingml/2006/main" name="PosterPresentations.com-36x60-Template-V3">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lassic 3 Column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lassic - Wide Cen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PosterPresentations.com-36x60-Template-V3</Template>
  <TotalTime>122</TotalTime>
  <Words>887</Words>
  <Application>Microsoft Office PowerPoint</Application>
  <PresentationFormat>Custom</PresentationFormat>
  <Paragraphs>60</Paragraphs>
  <Slides>1</Slides>
  <Notes>1</Notes>
  <HiddenSlides>0</HiddenSlides>
  <MMClips>1</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Calibri</vt:lpstr>
      <vt:lpstr>Times New Roman</vt:lpstr>
      <vt:lpstr>Trebuchet MS</vt:lpstr>
      <vt:lpstr>PosterPresentations.com-36x60-Template-V3</vt:lpstr>
      <vt:lpstr>1_Classic 3 Columns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cp:lastModifiedBy>HASIBUL ISLAM</cp:lastModifiedBy>
  <cp:revision>56</cp:revision>
  <dcterms:created xsi:type="dcterms:W3CDTF">2012-02-06T18:46:00Z</dcterms:created>
  <dcterms:modified xsi:type="dcterms:W3CDTF">2026-02-28T17:00:32Z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C8CD1D0B87C840F496B141C5FD587100_13</vt:lpwstr>
  </property>
  <property fmtid="{D5CDD505-2E9C-101B-9397-08002B2CF9AE}" pid="3" name="KSOProductBuildVer">
    <vt:lpwstr>1033-12.2.0.23196</vt:lpwstr>
  </property>
</Properties>
</file>